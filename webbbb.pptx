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8" r:id="rId3"/>
    <p:sldId id="290" r:id="rId4"/>
    <p:sldId id="291" r:id="rId5"/>
    <p:sldId id="292" r:id="rId6"/>
    <p:sldId id="293" r:id="rId7"/>
    <p:sldId id="295" r:id="rId8"/>
    <p:sldId id="296" r:id="rId9"/>
    <p:sldId id="297" r:id="rId10"/>
    <p:sldId id="298" r:id="rId11"/>
    <p:sldId id="299" r:id="rId12"/>
    <p:sldId id="300" r:id="rId13"/>
    <p:sldId id="283" r:id="rId14"/>
    <p:sldId id="28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autoAdjust="0"/>
    <p:restoredTop sz="94660"/>
  </p:normalViewPr>
  <p:slideViewPr>
    <p:cSldViewPr snapToGrid="0">
      <p:cViewPr>
        <p:scale>
          <a:sx n="76" d="100"/>
          <a:sy n="76" d="100"/>
        </p:scale>
        <p:origin x="-946" y="-32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8F4500-5A5B-4F95-A96C-90684E676B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3078591B-F93B-4245-87EC-AEA39DE3B8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7FCCA7C1-6557-46FD-A802-2CDEC481F4C7}"/>
              </a:ext>
            </a:extLst>
          </p:cNvPr>
          <p:cNvSpPr>
            <a:spLocks noGrp="1"/>
          </p:cNvSpPr>
          <p:nvPr>
            <p:ph type="dt" sz="half" idx="10"/>
          </p:nvPr>
        </p:nvSpPr>
        <p:spPr/>
        <p:txBody>
          <a:bodyPr/>
          <a:lstStyle/>
          <a:p>
            <a:fld id="{BDF4EE08-2919-40ED-80F9-AAC6B45BA47D}" type="datetimeFigureOut">
              <a:rPr lang="en-IN" smtClean="0"/>
              <a:pPr/>
              <a:t>08-05-2026</a:t>
            </a:fld>
            <a:endParaRPr lang="en-IN"/>
          </a:p>
        </p:txBody>
      </p:sp>
      <p:sp>
        <p:nvSpPr>
          <p:cNvPr id="5" name="Footer Placeholder 4">
            <a:extLst>
              <a:ext uri="{FF2B5EF4-FFF2-40B4-BE49-F238E27FC236}">
                <a16:creationId xmlns:a16="http://schemas.microsoft.com/office/drawing/2014/main" xmlns="" id="{DAAF9CD2-7724-409E-B35F-79DB24D020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9576B9F-1315-4CAB-ABFF-9887ECCF3AF4}"/>
              </a:ext>
            </a:extLst>
          </p:cNvPr>
          <p:cNvSpPr>
            <a:spLocks noGrp="1"/>
          </p:cNvSpPr>
          <p:nvPr>
            <p:ph type="sldNum" sz="quarter" idx="12"/>
          </p:nvPr>
        </p:nvSpPr>
        <p:spPr/>
        <p:txBody>
          <a:bodyPr/>
          <a:lstStyle/>
          <a:p>
            <a:fld id="{E140E5C7-307B-49D3-A631-23A28046D5CB}" type="slidenum">
              <a:rPr lang="en-IN" smtClean="0"/>
              <a:pPr/>
              <a:t>‹#›</a:t>
            </a:fld>
            <a:endParaRPr lang="en-IN"/>
          </a:p>
        </p:txBody>
      </p:sp>
    </p:spTree>
    <p:extLst>
      <p:ext uri="{BB962C8B-B14F-4D97-AF65-F5344CB8AC3E}">
        <p14:creationId xmlns:p14="http://schemas.microsoft.com/office/powerpoint/2010/main" xmlns="" val="661392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AA43E6-2692-496E-B426-EEF2412675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5C4EA08-A202-4DAA-A856-FF50443411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8431421-9371-4925-90C5-82A534916FB4}"/>
              </a:ext>
            </a:extLst>
          </p:cNvPr>
          <p:cNvSpPr>
            <a:spLocks noGrp="1"/>
          </p:cNvSpPr>
          <p:nvPr>
            <p:ph type="dt" sz="half" idx="10"/>
          </p:nvPr>
        </p:nvSpPr>
        <p:spPr/>
        <p:txBody>
          <a:bodyPr/>
          <a:lstStyle/>
          <a:p>
            <a:fld id="{BDF4EE08-2919-40ED-80F9-AAC6B45BA47D}" type="datetimeFigureOut">
              <a:rPr lang="en-IN" smtClean="0"/>
              <a:pPr/>
              <a:t>08-05-2026</a:t>
            </a:fld>
            <a:endParaRPr lang="en-IN"/>
          </a:p>
        </p:txBody>
      </p:sp>
      <p:sp>
        <p:nvSpPr>
          <p:cNvPr id="5" name="Footer Placeholder 4">
            <a:extLst>
              <a:ext uri="{FF2B5EF4-FFF2-40B4-BE49-F238E27FC236}">
                <a16:creationId xmlns:a16="http://schemas.microsoft.com/office/drawing/2014/main" xmlns="" id="{237FFA49-A886-4500-8480-5B9BB7E13D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432590D-44FB-453F-AF49-DFE3C043DF46}"/>
              </a:ext>
            </a:extLst>
          </p:cNvPr>
          <p:cNvSpPr>
            <a:spLocks noGrp="1"/>
          </p:cNvSpPr>
          <p:nvPr>
            <p:ph type="sldNum" sz="quarter" idx="12"/>
          </p:nvPr>
        </p:nvSpPr>
        <p:spPr/>
        <p:txBody>
          <a:bodyPr/>
          <a:lstStyle/>
          <a:p>
            <a:fld id="{E140E5C7-307B-49D3-A631-23A28046D5CB}" type="slidenum">
              <a:rPr lang="en-IN" smtClean="0"/>
              <a:pPr/>
              <a:t>‹#›</a:t>
            </a:fld>
            <a:endParaRPr lang="en-IN"/>
          </a:p>
        </p:txBody>
      </p:sp>
    </p:spTree>
    <p:extLst>
      <p:ext uri="{BB962C8B-B14F-4D97-AF65-F5344CB8AC3E}">
        <p14:creationId xmlns:p14="http://schemas.microsoft.com/office/powerpoint/2010/main" xmlns="" val="790051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B4A938-1AA5-490C-990A-D3DC4EA367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5599851F-60E1-423D-8D78-4EE9AB5656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D27A85D-02E5-4218-8FB9-F78F82DBE246}"/>
              </a:ext>
            </a:extLst>
          </p:cNvPr>
          <p:cNvSpPr>
            <a:spLocks noGrp="1"/>
          </p:cNvSpPr>
          <p:nvPr>
            <p:ph type="dt" sz="half" idx="10"/>
          </p:nvPr>
        </p:nvSpPr>
        <p:spPr/>
        <p:txBody>
          <a:bodyPr/>
          <a:lstStyle/>
          <a:p>
            <a:fld id="{BDF4EE08-2919-40ED-80F9-AAC6B45BA47D}" type="datetimeFigureOut">
              <a:rPr lang="en-IN" smtClean="0"/>
              <a:pPr/>
              <a:t>08-05-2026</a:t>
            </a:fld>
            <a:endParaRPr lang="en-IN"/>
          </a:p>
        </p:txBody>
      </p:sp>
      <p:sp>
        <p:nvSpPr>
          <p:cNvPr id="5" name="Footer Placeholder 4">
            <a:extLst>
              <a:ext uri="{FF2B5EF4-FFF2-40B4-BE49-F238E27FC236}">
                <a16:creationId xmlns:a16="http://schemas.microsoft.com/office/drawing/2014/main" xmlns="" id="{568F5316-4866-429E-9BA9-569AB7B36B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F9FA1BC-9B99-42E9-84DA-24F89F32AFBD}"/>
              </a:ext>
            </a:extLst>
          </p:cNvPr>
          <p:cNvSpPr>
            <a:spLocks noGrp="1"/>
          </p:cNvSpPr>
          <p:nvPr>
            <p:ph type="sldNum" sz="quarter" idx="12"/>
          </p:nvPr>
        </p:nvSpPr>
        <p:spPr/>
        <p:txBody>
          <a:bodyPr/>
          <a:lstStyle/>
          <a:p>
            <a:fld id="{E140E5C7-307B-49D3-A631-23A28046D5CB}" type="slidenum">
              <a:rPr lang="en-IN" smtClean="0"/>
              <a:pPr/>
              <a:t>‹#›</a:t>
            </a:fld>
            <a:endParaRPr lang="en-IN"/>
          </a:p>
        </p:txBody>
      </p:sp>
    </p:spTree>
    <p:extLst>
      <p:ext uri="{BB962C8B-B14F-4D97-AF65-F5344CB8AC3E}">
        <p14:creationId xmlns:p14="http://schemas.microsoft.com/office/powerpoint/2010/main" xmlns="" val="2713762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96F0FF-C6DA-4D10-BF87-105217D395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97C99AD-ACC8-4376-9D0C-7B6DE658CE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4DE36164-51E3-49C2-A536-F18A56DE00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0131D5CF-07BE-41A3-9045-32200987F5F3}"/>
              </a:ext>
            </a:extLst>
          </p:cNvPr>
          <p:cNvSpPr>
            <a:spLocks noGrp="1"/>
          </p:cNvSpPr>
          <p:nvPr>
            <p:ph type="dt" sz="half" idx="10"/>
          </p:nvPr>
        </p:nvSpPr>
        <p:spPr/>
        <p:txBody>
          <a:bodyPr/>
          <a:lstStyle/>
          <a:p>
            <a:fld id="{BDF4EE08-2919-40ED-80F9-AAC6B45BA47D}" type="datetimeFigureOut">
              <a:rPr lang="en-IN" smtClean="0"/>
              <a:pPr/>
              <a:t>08-05-2026</a:t>
            </a:fld>
            <a:endParaRPr lang="en-IN"/>
          </a:p>
        </p:txBody>
      </p:sp>
      <p:sp>
        <p:nvSpPr>
          <p:cNvPr id="6" name="Footer Placeholder 5">
            <a:extLst>
              <a:ext uri="{FF2B5EF4-FFF2-40B4-BE49-F238E27FC236}">
                <a16:creationId xmlns:a16="http://schemas.microsoft.com/office/drawing/2014/main" xmlns="" id="{06685C2B-24DA-4E83-9517-44E96444D0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C641C514-BD8F-4607-BB71-65F4593DFE4C}"/>
              </a:ext>
            </a:extLst>
          </p:cNvPr>
          <p:cNvSpPr>
            <a:spLocks noGrp="1"/>
          </p:cNvSpPr>
          <p:nvPr>
            <p:ph type="sldNum" sz="quarter" idx="12"/>
          </p:nvPr>
        </p:nvSpPr>
        <p:spPr/>
        <p:txBody>
          <a:bodyPr/>
          <a:lstStyle/>
          <a:p>
            <a:fld id="{E140E5C7-307B-49D3-A631-23A28046D5CB}" type="slidenum">
              <a:rPr lang="en-IN" smtClean="0"/>
              <a:pPr/>
              <a:t>‹#›</a:t>
            </a:fld>
            <a:endParaRPr lang="en-IN"/>
          </a:p>
        </p:txBody>
      </p:sp>
    </p:spTree>
    <p:extLst>
      <p:ext uri="{BB962C8B-B14F-4D97-AF65-F5344CB8AC3E}">
        <p14:creationId xmlns:p14="http://schemas.microsoft.com/office/powerpoint/2010/main" xmlns="" val="2496542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950440-A9AA-4F37-A4DB-8E01D436086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DCBD9572-1261-4C39-8645-958F7FD641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8B17FF6-9DB8-43DB-A932-E466D176AE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7EA69846-2331-4CAC-801F-E4DAD9E941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E08C2E6-40CD-49C6-B087-D01863DD5E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32244309-5043-408B-B47E-BE5849DE2DE7}"/>
              </a:ext>
            </a:extLst>
          </p:cNvPr>
          <p:cNvSpPr>
            <a:spLocks noGrp="1"/>
          </p:cNvSpPr>
          <p:nvPr>
            <p:ph type="dt" sz="half" idx="10"/>
          </p:nvPr>
        </p:nvSpPr>
        <p:spPr/>
        <p:txBody>
          <a:bodyPr/>
          <a:lstStyle/>
          <a:p>
            <a:fld id="{BDF4EE08-2919-40ED-80F9-AAC6B45BA47D}" type="datetimeFigureOut">
              <a:rPr lang="en-IN" smtClean="0"/>
              <a:pPr/>
              <a:t>08-05-2026</a:t>
            </a:fld>
            <a:endParaRPr lang="en-IN"/>
          </a:p>
        </p:txBody>
      </p:sp>
      <p:sp>
        <p:nvSpPr>
          <p:cNvPr id="8" name="Footer Placeholder 7">
            <a:extLst>
              <a:ext uri="{FF2B5EF4-FFF2-40B4-BE49-F238E27FC236}">
                <a16:creationId xmlns:a16="http://schemas.microsoft.com/office/drawing/2014/main" xmlns="" id="{99092255-5037-44E4-884F-7A5E31590A4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0B0F7B78-BD03-488F-B4E9-A617D50A9FC8}"/>
              </a:ext>
            </a:extLst>
          </p:cNvPr>
          <p:cNvSpPr>
            <a:spLocks noGrp="1"/>
          </p:cNvSpPr>
          <p:nvPr>
            <p:ph type="sldNum" sz="quarter" idx="12"/>
          </p:nvPr>
        </p:nvSpPr>
        <p:spPr/>
        <p:txBody>
          <a:bodyPr/>
          <a:lstStyle/>
          <a:p>
            <a:fld id="{E140E5C7-307B-49D3-A631-23A28046D5CB}" type="slidenum">
              <a:rPr lang="en-IN" smtClean="0"/>
              <a:pPr/>
              <a:t>‹#›</a:t>
            </a:fld>
            <a:endParaRPr lang="en-IN"/>
          </a:p>
        </p:txBody>
      </p:sp>
    </p:spTree>
    <p:extLst>
      <p:ext uri="{BB962C8B-B14F-4D97-AF65-F5344CB8AC3E}">
        <p14:creationId xmlns:p14="http://schemas.microsoft.com/office/powerpoint/2010/main" xmlns="" val="3917572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06AB74-60E5-4B2E-B660-3DC125F1031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D8DF2220-5E2B-4D08-BBEA-EB8884390A89}"/>
              </a:ext>
            </a:extLst>
          </p:cNvPr>
          <p:cNvSpPr>
            <a:spLocks noGrp="1"/>
          </p:cNvSpPr>
          <p:nvPr>
            <p:ph type="dt" sz="half" idx="10"/>
          </p:nvPr>
        </p:nvSpPr>
        <p:spPr/>
        <p:txBody>
          <a:bodyPr/>
          <a:lstStyle/>
          <a:p>
            <a:fld id="{BDF4EE08-2919-40ED-80F9-AAC6B45BA47D}" type="datetimeFigureOut">
              <a:rPr lang="en-IN" smtClean="0"/>
              <a:pPr/>
              <a:t>08-05-2026</a:t>
            </a:fld>
            <a:endParaRPr lang="en-IN"/>
          </a:p>
        </p:txBody>
      </p:sp>
      <p:sp>
        <p:nvSpPr>
          <p:cNvPr id="4" name="Footer Placeholder 3">
            <a:extLst>
              <a:ext uri="{FF2B5EF4-FFF2-40B4-BE49-F238E27FC236}">
                <a16:creationId xmlns:a16="http://schemas.microsoft.com/office/drawing/2014/main" xmlns="" id="{81751BC5-0D6D-4804-8D96-03F143A749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CA19F5FF-4940-4031-A5A6-12E6A3E3D8FD}"/>
              </a:ext>
            </a:extLst>
          </p:cNvPr>
          <p:cNvSpPr>
            <a:spLocks noGrp="1"/>
          </p:cNvSpPr>
          <p:nvPr>
            <p:ph type="sldNum" sz="quarter" idx="12"/>
          </p:nvPr>
        </p:nvSpPr>
        <p:spPr/>
        <p:txBody>
          <a:bodyPr/>
          <a:lstStyle/>
          <a:p>
            <a:fld id="{E140E5C7-307B-49D3-A631-23A28046D5CB}" type="slidenum">
              <a:rPr lang="en-IN" smtClean="0"/>
              <a:pPr/>
              <a:t>‹#›</a:t>
            </a:fld>
            <a:endParaRPr lang="en-IN"/>
          </a:p>
        </p:txBody>
      </p:sp>
    </p:spTree>
    <p:extLst>
      <p:ext uri="{BB962C8B-B14F-4D97-AF65-F5344CB8AC3E}">
        <p14:creationId xmlns:p14="http://schemas.microsoft.com/office/powerpoint/2010/main" xmlns="" val="454362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DBB25D1E-2B7B-4D7A-B8E0-C5FF25F42574}"/>
              </a:ext>
            </a:extLst>
          </p:cNvPr>
          <p:cNvSpPr>
            <a:spLocks noGrp="1"/>
          </p:cNvSpPr>
          <p:nvPr>
            <p:ph type="dt" sz="half" idx="10"/>
          </p:nvPr>
        </p:nvSpPr>
        <p:spPr/>
        <p:txBody>
          <a:bodyPr/>
          <a:lstStyle/>
          <a:p>
            <a:fld id="{BDF4EE08-2919-40ED-80F9-AAC6B45BA47D}" type="datetimeFigureOut">
              <a:rPr lang="en-IN" smtClean="0"/>
              <a:pPr/>
              <a:t>08-05-2026</a:t>
            </a:fld>
            <a:endParaRPr lang="en-IN"/>
          </a:p>
        </p:txBody>
      </p:sp>
      <p:sp>
        <p:nvSpPr>
          <p:cNvPr id="3" name="Footer Placeholder 2">
            <a:extLst>
              <a:ext uri="{FF2B5EF4-FFF2-40B4-BE49-F238E27FC236}">
                <a16:creationId xmlns:a16="http://schemas.microsoft.com/office/drawing/2014/main" xmlns="" id="{4DED3E1F-6CBF-4075-BA07-14416801BE2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A4F66615-3831-4FD6-B0A5-5284A586607C}"/>
              </a:ext>
            </a:extLst>
          </p:cNvPr>
          <p:cNvSpPr>
            <a:spLocks noGrp="1"/>
          </p:cNvSpPr>
          <p:nvPr>
            <p:ph type="sldNum" sz="quarter" idx="12"/>
          </p:nvPr>
        </p:nvSpPr>
        <p:spPr/>
        <p:txBody>
          <a:bodyPr/>
          <a:lstStyle/>
          <a:p>
            <a:fld id="{E140E5C7-307B-49D3-A631-23A28046D5CB}" type="slidenum">
              <a:rPr lang="en-IN" smtClean="0"/>
              <a:pPr/>
              <a:t>‹#›</a:t>
            </a:fld>
            <a:endParaRPr lang="en-IN"/>
          </a:p>
        </p:txBody>
      </p:sp>
    </p:spTree>
    <p:extLst>
      <p:ext uri="{BB962C8B-B14F-4D97-AF65-F5344CB8AC3E}">
        <p14:creationId xmlns:p14="http://schemas.microsoft.com/office/powerpoint/2010/main" xmlns="" val="2139826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D2EE01-E323-44EE-B5F3-4DF1AF57AA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7934D3D-0F3F-4EE4-8833-1DF98736EF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7EAB0AFF-16E6-49B5-9A6D-0CCA53586F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E510268-C373-47D3-9BFC-37A82B63A0D4}"/>
              </a:ext>
            </a:extLst>
          </p:cNvPr>
          <p:cNvSpPr>
            <a:spLocks noGrp="1"/>
          </p:cNvSpPr>
          <p:nvPr>
            <p:ph type="dt" sz="half" idx="10"/>
          </p:nvPr>
        </p:nvSpPr>
        <p:spPr/>
        <p:txBody>
          <a:bodyPr/>
          <a:lstStyle/>
          <a:p>
            <a:fld id="{BDF4EE08-2919-40ED-80F9-AAC6B45BA47D}" type="datetimeFigureOut">
              <a:rPr lang="en-IN" smtClean="0"/>
              <a:pPr/>
              <a:t>08-05-2026</a:t>
            </a:fld>
            <a:endParaRPr lang="en-IN"/>
          </a:p>
        </p:txBody>
      </p:sp>
      <p:sp>
        <p:nvSpPr>
          <p:cNvPr id="6" name="Footer Placeholder 5">
            <a:extLst>
              <a:ext uri="{FF2B5EF4-FFF2-40B4-BE49-F238E27FC236}">
                <a16:creationId xmlns:a16="http://schemas.microsoft.com/office/drawing/2014/main" xmlns="" id="{83678000-CFE5-4B04-86C3-1FE9A7760B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CB7B9215-B398-4314-A5EF-68DA090C78F6}"/>
              </a:ext>
            </a:extLst>
          </p:cNvPr>
          <p:cNvSpPr>
            <a:spLocks noGrp="1"/>
          </p:cNvSpPr>
          <p:nvPr>
            <p:ph type="sldNum" sz="quarter" idx="12"/>
          </p:nvPr>
        </p:nvSpPr>
        <p:spPr/>
        <p:txBody>
          <a:bodyPr/>
          <a:lstStyle/>
          <a:p>
            <a:fld id="{E140E5C7-307B-49D3-A631-23A28046D5CB}" type="slidenum">
              <a:rPr lang="en-IN" smtClean="0"/>
              <a:pPr/>
              <a:t>‹#›</a:t>
            </a:fld>
            <a:endParaRPr lang="en-IN"/>
          </a:p>
        </p:txBody>
      </p:sp>
    </p:spTree>
    <p:extLst>
      <p:ext uri="{BB962C8B-B14F-4D97-AF65-F5344CB8AC3E}">
        <p14:creationId xmlns:p14="http://schemas.microsoft.com/office/powerpoint/2010/main" xmlns="" val="1594028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88E59C-3205-4EA2-829E-640EB34D64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4BEA4ECC-5047-4433-9205-A7D98DB499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5177F865-29ED-4987-A908-BD1836F131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3BCFB22-6D1E-481C-9A82-CD2524A8EDAD}"/>
              </a:ext>
            </a:extLst>
          </p:cNvPr>
          <p:cNvSpPr>
            <a:spLocks noGrp="1"/>
          </p:cNvSpPr>
          <p:nvPr>
            <p:ph type="dt" sz="half" idx="10"/>
          </p:nvPr>
        </p:nvSpPr>
        <p:spPr/>
        <p:txBody>
          <a:bodyPr/>
          <a:lstStyle/>
          <a:p>
            <a:fld id="{BDF4EE08-2919-40ED-80F9-AAC6B45BA47D}" type="datetimeFigureOut">
              <a:rPr lang="en-IN" smtClean="0"/>
              <a:pPr/>
              <a:t>08-05-2026</a:t>
            </a:fld>
            <a:endParaRPr lang="en-IN"/>
          </a:p>
        </p:txBody>
      </p:sp>
      <p:sp>
        <p:nvSpPr>
          <p:cNvPr id="6" name="Footer Placeholder 5">
            <a:extLst>
              <a:ext uri="{FF2B5EF4-FFF2-40B4-BE49-F238E27FC236}">
                <a16:creationId xmlns:a16="http://schemas.microsoft.com/office/drawing/2014/main" xmlns="" id="{C7B19CE9-CDB4-44EE-8357-FA48E30504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8ABA7F20-24E8-4823-94D9-9E8439341DFF}"/>
              </a:ext>
            </a:extLst>
          </p:cNvPr>
          <p:cNvSpPr>
            <a:spLocks noGrp="1"/>
          </p:cNvSpPr>
          <p:nvPr>
            <p:ph type="sldNum" sz="quarter" idx="12"/>
          </p:nvPr>
        </p:nvSpPr>
        <p:spPr/>
        <p:txBody>
          <a:bodyPr/>
          <a:lstStyle/>
          <a:p>
            <a:fld id="{E140E5C7-307B-49D3-A631-23A28046D5CB}" type="slidenum">
              <a:rPr lang="en-IN" smtClean="0"/>
              <a:pPr/>
              <a:t>‹#›</a:t>
            </a:fld>
            <a:endParaRPr lang="en-IN"/>
          </a:p>
        </p:txBody>
      </p:sp>
    </p:spTree>
    <p:extLst>
      <p:ext uri="{BB962C8B-B14F-4D97-AF65-F5344CB8AC3E}">
        <p14:creationId xmlns:p14="http://schemas.microsoft.com/office/powerpoint/2010/main" xmlns="" val="2311711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830BCA1-E756-495F-95B1-534380400A0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19848A55-88EB-46D8-9FCA-4D052AEC66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93C0DC9-75EA-4D84-A674-62A0C45E0DB5}"/>
              </a:ext>
            </a:extLst>
          </p:cNvPr>
          <p:cNvSpPr>
            <a:spLocks noGrp="1"/>
          </p:cNvSpPr>
          <p:nvPr>
            <p:ph type="dt" sz="half" idx="10"/>
          </p:nvPr>
        </p:nvSpPr>
        <p:spPr/>
        <p:txBody>
          <a:bodyPr/>
          <a:lstStyle/>
          <a:p>
            <a:fld id="{BDF4EE08-2919-40ED-80F9-AAC6B45BA47D}" type="datetimeFigureOut">
              <a:rPr lang="en-IN" smtClean="0"/>
              <a:pPr/>
              <a:t>08-05-2026</a:t>
            </a:fld>
            <a:endParaRPr lang="en-IN"/>
          </a:p>
        </p:txBody>
      </p:sp>
      <p:sp>
        <p:nvSpPr>
          <p:cNvPr id="5" name="Footer Placeholder 4">
            <a:extLst>
              <a:ext uri="{FF2B5EF4-FFF2-40B4-BE49-F238E27FC236}">
                <a16:creationId xmlns:a16="http://schemas.microsoft.com/office/drawing/2014/main" xmlns="" id="{ED167CA0-0FCA-4706-8A06-FEE99F4F0F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4451202-EA99-4ECA-AAD3-196AAC8D2A04}"/>
              </a:ext>
            </a:extLst>
          </p:cNvPr>
          <p:cNvSpPr>
            <a:spLocks noGrp="1"/>
          </p:cNvSpPr>
          <p:nvPr>
            <p:ph type="sldNum" sz="quarter" idx="12"/>
          </p:nvPr>
        </p:nvSpPr>
        <p:spPr/>
        <p:txBody>
          <a:bodyPr/>
          <a:lstStyle/>
          <a:p>
            <a:fld id="{E140E5C7-307B-49D3-A631-23A28046D5CB}" type="slidenum">
              <a:rPr lang="en-IN" smtClean="0"/>
              <a:pPr/>
              <a:t>‹#›</a:t>
            </a:fld>
            <a:endParaRPr lang="en-IN"/>
          </a:p>
        </p:txBody>
      </p:sp>
    </p:spTree>
    <p:extLst>
      <p:ext uri="{BB962C8B-B14F-4D97-AF65-F5344CB8AC3E}">
        <p14:creationId xmlns:p14="http://schemas.microsoft.com/office/powerpoint/2010/main" xmlns="" val="2225080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41ADD68-A331-45A6-ABAA-FF7428E9797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6184F06B-0516-4E90-A658-1AE751BA5F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F02FD0F-E92E-4789-98A0-F4FB82AC4D81}"/>
              </a:ext>
            </a:extLst>
          </p:cNvPr>
          <p:cNvSpPr>
            <a:spLocks noGrp="1"/>
          </p:cNvSpPr>
          <p:nvPr>
            <p:ph type="dt" sz="half" idx="10"/>
          </p:nvPr>
        </p:nvSpPr>
        <p:spPr/>
        <p:txBody>
          <a:bodyPr/>
          <a:lstStyle/>
          <a:p>
            <a:fld id="{BDF4EE08-2919-40ED-80F9-AAC6B45BA47D}" type="datetimeFigureOut">
              <a:rPr lang="en-IN" smtClean="0"/>
              <a:pPr/>
              <a:t>08-05-2026</a:t>
            </a:fld>
            <a:endParaRPr lang="en-IN"/>
          </a:p>
        </p:txBody>
      </p:sp>
      <p:sp>
        <p:nvSpPr>
          <p:cNvPr id="5" name="Footer Placeholder 4">
            <a:extLst>
              <a:ext uri="{FF2B5EF4-FFF2-40B4-BE49-F238E27FC236}">
                <a16:creationId xmlns:a16="http://schemas.microsoft.com/office/drawing/2014/main" xmlns="" id="{EDDAD570-6E45-4487-845B-51C8369ADB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01723B5-7B78-465A-965D-C65CD41A9D6E}"/>
              </a:ext>
            </a:extLst>
          </p:cNvPr>
          <p:cNvSpPr>
            <a:spLocks noGrp="1"/>
          </p:cNvSpPr>
          <p:nvPr>
            <p:ph type="sldNum" sz="quarter" idx="12"/>
          </p:nvPr>
        </p:nvSpPr>
        <p:spPr/>
        <p:txBody>
          <a:bodyPr/>
          <a:lstStyle/>
          <a:p>
            <a:fld id="{E140E5C7-307B-49D3-A631-23A28046D5CB}" type="slidenum">
              <a:rPr lang="en-IN" smtClean="0"/>
              <a:pPr/>
              <a:t>‹#›</a:t>
            </a:fld>
            <a:endParaRPr lang="en-IN"/>
          </a:p>
        </p:txBody>
      </p:sp>
    </p:spTree>
    <p:extLst>
      <p:ext uri="{BB962C8B-B14F-4D97-AF65-F5344CB8AC3E}">
        <p14:creationId xmlns:p14="http://schemas.microsoft.com/office/powerpoint/2010/main" xmlns="" val="3719112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476841FF-ED7E-40D7-B6EB-43A1D8FB6B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469FC7FB-7DCF-4E74-BFA2-23FC28331E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1F79EB7-203E-4B6E-82B5-174FCAD33C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F4EE08-2919-40ED-80F9-AAC6B45BA47D}" type="datetimeFigureOut">
              <a:rPr lang="en-IN" smtClean="0"/>
              <a:pPr/>
              <a:t>08-05-2026</a:t>
            </a:fld>
            <a:endParaRPr lang="en-IN"/>
          </a:p>
        </p:txBody>
      </p:sp>
      <p:sp>
        <p:nvSpPr>
          <p:cNvPr id="5" name="Footer Placeholder 4">
            <a:extLst>
              <a:ext uri="{FF2B5EF4-FFF2-40B4-BE49-F238E27FC236}">
                <a16:creationId xmlns:a16="http://schemas.microsoft.com/office/drawing/2014/main" xmlns="" id="{B5323293-391E-43D9-B3C9-0B926B5505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27199B90-15B5-4F54-9792-74DBADC00F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40E5C7-307B-49D3-A631-23A28046D5CB}" type="slidenum">
              <a:rPr lang="en-IN" smtClean="0"/>
              <a:pPr/>
              <a:t>‹#›</a:t>
            </a:fld>
            <a:endParaRPr lang="en-IN"/>
          </a:p>
        </p:txBody>
      </p:sp>
    </p:spTree>
    <p:extLst>
      <p:ext uri="{BB962C8B-B14F-4D97-AF65-F5344CB8AC3E}">
        <p14:creationId xmlns:p14="http://schemas.microsoft.com/office/powerpoint/2010/main" xmlns="" val="3449071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F4E083-B476-4506-AE7D-F01DEA000E80}"/>
              </a:ext>
            </a:extLst>
          </p:cNvPr>
          <p:cNvSpPr>
            <a:spLocks noGrp="1"/>
          </p:cNvSpPr>
          <p:nvPr>
            <p:ph type="ctrTitle"/>
          </p:nvPr>
        </p:nvSpPr>
        <p:spPr>
          <a:xfrm>
            <a:off x="0" y="71718"/>
            <a:ext cx="12192000" cy="792440"/>
          </a:xfrm>
        </p:spPr>
        <p:txBody>
          <a:bodyPr>
            <a:noAutofit/>
          </a:bodyPr>
          <a:lstStyle/>
          <a:p>
            <a:r>
              <a:rPr lang="en-US" sz="2800" dirty="0" smtClean="0"/>
              <a:t>QR </a:t>
            </a:r>
            <a:r>
              <a:rPr lang="en-US" sz="2800" dirty="0" err="1" smtClean="0"/>
              <a:t>Notifier</a:t>
            </a:r>
            <a:r>
              <a:rPr lang="en-US" sz="2800" dirty="0" smtClean="0"/>
              <a:t> System, QR-</a:t>
            </a:r>
            <a:r>
              <a:rPr lang="en-US" sz="2800" dirty="0" err="1" smtClean="0"/>
              <a:t>Alimy</a:t>
            </a:r>
            <a:r>
              <a:rPr lang="en-US" sz="2800" dirty="0" smtClean="0"/>
              <a:t> Website, and Real-Time Chat Application</a:t>
            </a:r>
            <a:br>
              <a:rPr lang="en-US" sz="2800" dirty="0" smtClean="0"/>
            </a:br>
            <a:endParaRPr lang="en-IN" sz="2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xmlns="" id="{3341769F-24C2-407E-A2B0-7DE88704631C}"/>
              </a:ext>
            </a:extLst>
          </p:cNvPr>
          <p:cNvSpPr>
            <a:spLocks noGrp="1"/>
          </p:cNvSpPr>
          <p:nvPr>
            <p:ph type="subTitle" idx="1"/>
          </p:nvPr>
        </p:nvSpPr>
        <p:spPr>
          <a:xfrm>
            <a:off x="152400" y="1013012"/>
            <a:ext cx="11940988" cy="5773270"/>
          </a:xfrm>
        </p:spPr>
        <p:txBody>
          <a:bodyPr>
            <a:normAutofit fontScale="92500" lnSpcReduction="20000"/>
          </a:bodyPr>
          <a:lstStyle/>
          <a:p>
            <a:r>
              <a:rPr lang="en-US" i="1" dirty="0" smtClean="0">
                <a:latin typeface="Times New Roman" panose="02020603050405020304" pitchFamily="18" charset="0"/>
                <a:cs typeface="Times New Roman" panose="02020603050405020304" pitchFamily="18" charset="0"/>
              </a:rPr>
              <a:t>PROJECT (ED511)</a:t>
            </a:r>
            <a:endParaRPr lang="en-US" sz="2400" i="1" dirty="0">
              <a:latin typeface="Times New Roman" panose="02020603050405020304" pitchFamily="18" charset="0"/>
              <a:cs typeface="Times New Roman" panose="02020603050405020304" pitchFamily="18" charset="0"/>
            </a:endParaRPr>
          </a:p>
          <a:p>
            <a:r>
              <a:rPr lang="en-US" sz="2400" i="1" dirty="0">
                <a:latin typeface="Times New Roman" panose="02020603050405020304" pitchFamily="18" charset="0"/>
                <a:cs typeface="Times New Roman" panose="02020603050405020304" pitchFamily="18" charset="0"/>
              </a:rPr>
              <a:t>Submitted in partial fulfillment of the requirements for the award of the Degree of</a:t>
            </a:r>
          </a:p>
          <a:p>
            <a:r>
              <a:rPr lang="en-US" dirty="0" smtClean="0">
                <a:latin typeface="Times New Roman" panose="02020603050405020304" pitchFamily="18" charset="0"/>
                <a:cs typeface="Times New Roman" panose="02020603050405020304" pitchFamily="18" charset="0"/>
              </a:rPr>
              <a:t> Integrated Master of Science</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a:t>
            </a:r>
          </a:p>
          <a:p>
            <a:r>
              <a:rPr lang="en-US" dirty="0">
                <a:latin typeface="Times New Roman" panose="02020603050405020304" pitchFamily="18" charset="0"/>
                <a:cs typeface="Times New Roman" panose="02020603050405020304" pitchFamily="18" charset="0"/>
              </a:rPr>
              <a:t>Quantitative Economics &amp; Data Science</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by</a:t>
            </a:r>
          </a:p>
          <a:p>
            <a:r>
              <a:rPr lang="en-US" sz="2400" dirty="0" err="1" smtClean="0">
                <a:latin typeface="Times New Roman" panose="02020603050405020304" pitchFamily="18" charset="0"/>
                <a:cs typeface="Times New Roman" panose="02020603050405020304" pitchFamily="18" charset="0"/>
              </a:rPr>
              <a:t>Ujjawal</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Saurav</a:t>
            </a:r>
            <a:endParaRPr lang="en-US" sz="2400"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IED/10016/21</a:t>
            </a:r>
            <a:endParaRPr lang="en-US" sz="2400" dirty="0">
              <a:latin typeface="Times New Roman" panose="02020603050405020304" pitchFamily="18" charset="0"/>
              <a:cs typeface="Times New Roman" panose="02020603050405020304" pitchFamily="18" charset="0"/>
            </a:endParaRPr>
          </a:p>
          <a:p>
            <a:pPr algn="l"/>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Gui</a:t>
            </a:r>
            <a:r>
              <a:rPr lang="en-US" sz="2100" dirty="0" smtClean="0">
                <a:latin typeface="Times New Roman" panose="02020603050405020304" pitchFamily="18" charset="0"/>
                <a:cs typeface="Times New Roman" panose="02020603050405020304" pitchFamily="18" charset="0"/>
              </a:rPr>
              <a:t>de</a:t>
            </a:r>
            <a:r>
              <a:rPr lang="en-US" sz="2100" dirty="0">
                <a:latin typeface="Times New Roman" panose="02020603050405020304" pitchFamily="18" charset="0"/>
                <a:cs typeface="Times New Roman" panose="02020603050405020304" pitchFamily="18" charset="0"/>
              </a:rPr>
              <a:t>: </a:t>
            </a:r>
            <a:r>
              <a:rPr lang="en-US" sz="2100" dirty="0" smtClean="0">
                <a:latin typeface="Times New Roman" panose="02020603050405020304" pitchFamily="18" charset="0"/>
                <a:cs typeface="Times New Roman" panose="02020603050405020304" pitchFamily="18" charset="0"/>
              </a:rPr>
              <a:t> Dr. </a:t>
            </a:r>
            <a:r>
              <a:rPr lang="en-US" sz="2100" dirty="0" err="1" smtClean="0">
                <a:latin typeface="Times New Roman" panose="02020603050405020304" pitchFamily="18" charset="0"/>
                <a:cs typeface="Times New Roman" panose="02020603050405020304" pitchFamily="18" charset="0"/>
              </a:rPr>
              <a:t>Mrinal</a:t>
            </a:r>
            <a:r>
              <a:rPr lang="en-US" sz="2100" dirty="0" smtClean="0">
                <a:latin typeface="Times New Roman" panose="02020603050405020304" pitchFamily="18" charset="0"/>
                <a:cs typeface="Times New Roman" panose="02020603050405020304" pitchFamily="18" charset="0"/>
              </a:rPr>
              <a:t> Jana</a:t>
            </a:r>
            <a:endParaRPr lang="en-US" sz="21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Department </a:t>
            </a:r>
            <a:r>
              <a:rPr lang="en-IN" sz="2400" dirty="0">
                <a:latin typeface="Times New Roman" panose="02020603050405020304" pitchFamily="18" charset="0"/>
                <a:cs typeface="Times New Roman" panose="02020603050405020304" pitchFamily="18" charset="0"/>
              </a:rPr>
              <a:t>for Quantitative Economics &amp; Data Science</a:t>
            </a:r>
          </a:p>
          <a:p>
            <a:r>
              <a:rPr lang="en-IN" sz="2400" dirty="0">
                <a:latin typeface="Times New Roman" panose="02020603050405020304" pitchFamily="18" charset="0"/>
                <a:cs typeface="Times New Roman" panose="02020603050405020304" pitchFamily="18" charset="0"/>
              </a:rPr>
              <a:t>Birla Institute of Technology, Mesra</a:t>
            </a:r>
          </a:p>
          <a:p>
            <a:r>
              <a:rPr lang="en-IN" sz="2400" dirty="0">
                <a:latin typeface="Times New Roman" panose="02020603050405020304" pitchFamily="18" charset="0"/>
                <a:cs typeface="Times New Roman" panose="02020603050405020304" pitchFamily="18" charset="0"/>
              </a:rPr>
              <a:t>Ranchi-835215, Jharkhand</a:t>
            </a:r>
          </a:p>
          <a:p>
            <a:endParaRPr lang="en-IN" dirty="0"/>
          </a:p>
        </p:txBody>
      </p:sp>
      <p:pic>
        <p:nvPicPr>
          <p:cNvPr id="5" name="Picture 4">
            <a:extLst>
              <a:ext uri="{FF2B5EF4-FFF2-40B4-BE49-F238E27FC236}">
                <a16:creationId xmlns:a16="http://schemas.microsoft.com/office/drawing/2014/main" xmlns="" id="{26612A29-E656-4867-96FE-8715F0DEF22F}"/>
              </a:ext>
            </a:extLst>
          </p:cNvPr>
          <p:cNvPicPr>
            <a:picLocks noChangeAspect="1"/>
          </p:cNvPicPr>
          <p:nvPr/>
        </p:nvPicPr>
        <p:blipFill>
          <a:blip r:embed="rId2"/>
          <a:srcRect/>
          <a:stretch>
            <a:fillRect/>
          </a:stretch>
        </p:blipFill>
        <p:spPr bwMode="auto">
          <a:xfrm>
            <a:off x="5450541" y="4327941"/>
            <a:ext cx="1344706" cy="1317812"/>
          </a:xfrm>
          <a:prstGeom prst="rect">
            <a:avLst/>
          </a:prstGeom>
          <a:noFill/>
          <a:ln w="9525">
            <a:noFill/>
            <a:miter lim="800000"/>
            <a:headEnd/>
            <a:tailEnd/>
          </a:ln>
        </p:spPr>
      </p:pic>
    </p:spTree>
    <p:extLst>
      <p:ext uri="{BB962C8B-B14F-4D97-AF65-F5344CB8AC3E}">
        <p14:creationId xmlns:p14="http://schemas.microsoft.com/office/powerpoint/2010/main" xmlns="" val="7838021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2F0ABF-E0DC-4EDB-BCB8-283B49C28DC9}"/>
              </a:ext>
            </a:extLst>
          </p:cNvPr>
          <p:cNvSpPr>
            <a:spLocks noGrp="1"/>
          </p:cNvSpPr>
          <p:nvPr>
            <p:ph type="title"/>
          </p:nvPr>
        </p:nvSpPr>
        <p:spPr>
          <a:xfrm>
            <a:off x="143435" y="313764"/>
            <a:ext cx="11896165" cy="645459"/>
          </a:xfrm>
        </p:spPr>
        <p:txBody>
          <a:bodyPr>
            <a:normAutofit fontScale="90000"/>
          </a:bodyPr>
          <a:lstStyle/>
          <a:p>
            <a:pPr algn="ctr"/>
            <a:r>
              <a:rPr lang="en-IN" u="sng"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xmlns="" id="{14CE6C7B-E73A-4ACA-91FD-497F5ED3E6AE}"/>
              </a:ext>
            </a:extLst>
          </p:cNvPr>
          <p:cNvSpPr>
            <a:spLocks noGrp="1"/>
          </p:cNvSpPr>
          <p:nvPr>
            <p:ph idx="1"/>
          </p:nvPr>
        </p:nvSpPr>
        <p:spPr>
          <a:xfrm>
            <a:off x="737118" y="1057836"/>
            <a:ext cx="10898155" cy="5620870"/>
          </a:xfrm>
        </p:spPr>
        <p:txBody>
          <a:bodyPr>
            <a:normAutofit/>
          </a:bodyPr>
          <a:lstStyle/>
          <a:p>
            <a:pPr algn="just"/>
            <a:endParaRPr lang="en-US" sz="2000" b="0" i="0" dirty="0">
              <a:solidFill>
                <a:srgbClr val="000000"/>
              </a:solidFill>
              <a:effectLst/>
              <a:latin typeface="Times New Roman" panose="02020603050405020304" pitchFamily="18" charset="0"/>
              <a:cs typeface="Times New Roman" panose="02020603050405020304" pitchFamily="18" charset="0"/>
            </a:endParaRPr>
          </a:p>
          <a:p>
            <a:r>
              <a:rPr lang="en-US" sz="1800" dirty="0" smtClean="0"/>
              <a:t>Overview of the Internship : This internship was conducted at JEJECOMMS Co., Ltd., South Korea, from January 2026 to June 2026, where I worked as a Frontend Web Developer. The internship focused on developing privacy-oriented web applications and real-time communication systems using modern frontend technologies and cloud-based architectures</a:t>
            </a:r>
          </a:p>
          <a:p>
            <a:r>
              <a:rPr lang="en-US" sz="1800" dirty="0" smtClean="0"/>
              <a:t>During the six-month internship, I worked on three major projects:</a:t>
            </a:r>
          </a:p>
          <a:p>
            <a:r>
              <a:rPr lang="en-US" sz="1800" b="1" dirty="0" smtClean="0"/>
              <a:t>QR </a:t>
            </a:r>
            <a:r>
              <a:rPr lang="en-US" sz="1800" b="1" dirty="0" err="1" smtClean="0"/>
              <a:t>Notifier</a:t>
            </a:r>
            <a:r>
              <a:rPr lang="en-US" sz="1800" b="1" dirty="0" smtClean="0"/>
              <a:t> System</a:t>
            </a:r>
            <a:r>
              <a:rPr lang="en-US" sz="1800" dirty="0" smtClean="0"/>
              <a:t> — A React and </a:t>
            </a:r>
            <a:r>
              <a:rPr lang="en-US" sz="1800" dirty="0" err="1" smtClean="0"/>
              <a:t>TypeScript</a:t>
            </a:r>
            <a:r>
              <a:rPr lang="en-US" sz="1800" dirty="0" smtClean="0"/>
              <a:t>-based Single Page Application (SPA) designed to provide secure and anonymous communication between vehicle owners and the public through QR code scanning. </a:t>
            </a:r>
          </a:p>
          <a:p>
            <a:r>
              <a:rPr lang="en-US" sz="1800" b="1" dirty="0" smtClean="0"/>
              <a:t>QR-</a:t>
            </a:r>
            <a:r>
              <a:rPr lang="en-US" sz="1800" b="1" dirty="0" err="1" smtClean="0"/>
              <a:t>Alimy</a:t>
            </a:r>
            <a:r>
              <a:rPr lang="en-US" sz="1800" b="1" dirty="0" smtClean="0"/>
              <a:t> Promotional Website</a:t>
            </a:r>
            <a:r>
              <a:rPr lang="en-US" sz="1800" dirty="0" smtClean="0"/>
              <a:t> — A responsive and interactive website developed using HTML5, CSS3, JavaScript, </a:t>
            </a:r>
            <a:r>
              <a:rPr lang="en-US" sz="1800" dirty="0" err="1" smtClean="0"/>
              <a:t>jQuery</a:t>
            </a:r>
            <a:r>
              <a:rPr lang="en-US" sz="1800" dirty="0" smtClean="0"/>
              <a:t>, and PHP, focused on explaining the QR-</a:t>
            </a:r>
            <a:r>
              <a:rPr lang="en-US" sz="1800" dirty="0" err="1" smtClean="0"/>
              <a:t>Alimy</a:t>
            </a:r>
            <a:r>
              <a:rPr lang="en-US" sz="1800" dirty="0" smtClean="0"/>
              <a:t> service and </a:t>
            </a:r>
            <a:r>
              <a:rPr lang="en-US" sz="1800" dirty="0" err="1" smtClean="0"/>
              <a:t>onboarding</a:t>
            </a:r>
            <a:r>
              <a:rPr lang="en-US" sz="1800" dirty="0" smtClean="0"/>
              <a:t> workflow. </a:t>
            </a:r>
          </a:p>
          <a:p>
            <a:r>
              <a:rPr lang="en-US" sz="1800" b="1" dirty="0" smtClean="0"/>
              <a:t>Real-Time Chat Application</a:t>
            </a:r>
            <a:r>
              <a:rPr lang="en-US" sz="1800" dirty="0" smtClean="0"/>
              <a:t> — A Firebase-powered real-time messaging platform supporting anonymous authentication, image sharing, typing indicators, online presence tracking, and real-time synchronization.</a:t>
            </a:r>
          </a:p>
          <a:p>
            <a:pPr marL="0" indent="0" algn="just">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7727386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2F0ABF-E0DC-4EDB-BCB8-283B49C28DC9}"/>
              </a:ext>
            </a:extLst>
          </p:cNvPr>
          <p:cNvSpPr>
            <a:spLocks noGrp="1"/>
          </p:cNvSpPr>
          <p:nvPr>
            <p:ph type="title"/>
          </p:nvPr>
        </p:nvSpPr>
        <p:spPr>
          <a:xfrm>
            <a:off x="143435" y="313764"/>
            <a:ext cx="11896165" cy="645459"/>
          </a:xfrm>
        </p:spPr>
        <p:txBody>
          <a:bodyPr>
            <a:normAutofit fontScale="90000"/>
          </a:bodyPr>
          <a:lstStyle/>
          <a:p>
            <a:pPr algn="ctr"/>
            <a:r>
              <a:rPr lang="en-US" u="sng" dirty="0" smtClean="0"/>
              <a:t>Problem Statement</a:t>
            </a:r>
            <a:r>
              <a:rPr lang="en-IN" u="sng" dirty="0" smtClean="0">
                <a:latin typeface="Times New Roman" panose="02020603050405020304" pitchFamily="18" charset="0"/>
                <a:cs typeface="Times New Roman" panose="02020603050405020304" pitchFamily="18" charset="0"/>
              </a:rPr>
              <a:t>  </a:t>
            </a:r>
            <a:endParaRPr lang="en-IN"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14CE6C7B-E73A-4ACA-91FD-497F5ED3E6AE}"/>
              </a:ext>
            </a:extLst>
          </p:cNvPr>
          <p:cNvSpPr>
            <a:spLocks noGrp="1"/>
          </p:cNvSpPr>
          <p:nvPr>
            <p:ph idx="1"/>
          </p:nvPr>
        </p:nvSpPr>
        <p:spPr>
          <a:xfrm>
            <a:off x="821094" y="1057836"/>
            <a:ext cx="10683551" cy="5620870"/>
          </a:xfrm>
        </p:spPr>
        <p:txBody>
          <a:bodyPr>
            <a:normAutofit/>
          </a:bodyPr>
          <a:lstStyle/>
          <a:p>
            <a:endParaRPr lang="en-US" sz="1800" b="0" i="0" dirty="0">
              <a:solidFill>
                <a:srgbClr val="000000"/>
              </a:solidFill>
              <a:effectLst/>
              <a:latin typeface="Times New Roman" panose="02020603050405020304" pitchFamily="18" charset="0"/>
              <a:cs typeface="Times New Roman" panose="02020603050405020304" pitchFamily="18" charset="0"/>
            </a:endParaRPr>
          </a:p>
          <a:p>
            <a:pPr>
              <a:buNone/>
            </a:pPr>
            <a:r>
              <a:rPr lang="en-US" sz="1600" b="1" dirty="0" smtClean="0"/>
              <a:t>     </a:t>
            </a:r>
            <a:r>
              <a:rPr lang="en-US" sz="1800" b="1" u="sng" dirty="0" smtClean="0"/>
              <a:t>Existing Problems</a:t>
            </a:r>
          </a:p>
          <a:p>
            <a:r>
              <a:rPr lang="en-US" sz="1800" dirty="0" smtClean="0"/>
              <a:t>Vehicle owners display personal phone numbers publicly </a:t>
            </a:r>
          </a:p>
          <a:p>
            <a:r>
              <a:rPr lang="en-US" sz="1800" dirty="0" smtClean="0"/>
              <a:t>Risk of spam calls, phishing, and privacy leakage </a:t>
            </a:r>
          </a:p>
          <a:p>
            <a:r>
              <a:rPr lang="en-US" sz="1800" dirty="0" smtClean="0"/>
              <a:t>No secure anonymous communication system </a:t>
            </a:r>
          </a:p>
          <a:p>
            <a:r>
              <a:rPr lang="en-US" sz="1800" dirty="0" smtClean="0"/>
              <a:t>Traditional systems lack real-time interaction</a:t>
            </a:r>
            <a:endParaRPr lang="en-US" sz="1800" b="0" i="0" dirty="0">
              <a:solidFill>
                <a:srgbClr val="000000"/>
              </a:solidFill>
              <a:effectLst/>
              <a:latin typeface="Times New Roman" panose="02020603050405020304" pitchFamily="18" charset="0"/>
              <a:cs typeface="Times New Roman" panose="02020603050405020304" pitchFamily="18" charset="0"/>
            </a:endParaRPr>
          </a:p>
          <a:p>
            <a:pPr>
              <a:buNone/>
            </a:pPr>
            <a:r>
              <a:rPr lang="en-US" sz="1800" b="1" dirty="0" smtClean="0"/>
              <a:t>    </a:t>
            </a:r>
            <a:r>
              <a:rPr lang="en-US" sz="1800" b="1" u="sng" dirty="0" smtClean="0"/>
              <a:t>Technical Challenges</a:t>
            </a:r>
          </a:p>
          <a:p>
            <a:r>
              <a:rPr lang="en-US" sz="1800" dirty="0" smtClean="0"/>
              <a:t>Responsive multi-device UI design </a:t>
            </a:r>
          </a:p>
          <a:p>
            <a:r>
              <a:rPr lang="en-US" sz="1800" dirty="0" smtClean="0"/>
              <a:t>Real-time message synchronization </a:t>
            </a:r>
          </a:p>
          <a:p>
            <a:r>
              <a:rPr lang="en-US" sz="1800" dirty="0" smtClean="0"/>
              <a:t>Secure cloud-based communication </a:t>
            </a:r>
          </a:p>
          <a:p>
            <a:r>
              <a:rPr lang="en-US" sz="1800" dirty="0" smtClean="0"/>
              <a:t>Efficient user </a:t>
            </a:r>
            <a:r>
              <a:rPr lang="en-US" sz="1800" dirty="0" err="1" smtClean="0"/>
              <a:t>onboarding</a:t>
            </a:r>
            <a:r>
              <a:rPr lang="en-US" sz="1800" dirty="0" smtClean="0"/>
              <a:t> workflow </a:t>
            </a:r>
          </a:p>
          <a:p>
            <a:pPr>
              <a:buNone/>
            </a:pPr>
            <a:r>
              <a:rPr lang="en-US" sz="1800" b="1" dirty="0" smtClean="0"/>
              <a:t>    </a:t>
            </a:r>
            <a:r>
              <a:rPr lang="en-US" sz="1800" b="1" u="sng" dirty="0" smtClean="0"/>
              <a:t>Proposed Solution</a:t>
            </a:r>
          </a:p>
          <a:p>
            <a:r>
              <a:rPr lang="en-US" sz="1800" dirty="0" smtClean="0"/>
              <a:t>QR-based anonymous notification system </a:t>
            </a:r>
          </a:p>
          <a:p>
            <a:r>
              <a:rPr lang="en-US" sz="1800" dirty="0" smtClean="0"/>
              <a:t>Responsive promotional website </a:t>
            </a:r>
          </a:p>
          <a:p>
            <a:r>
              <a:rPr lang="en-US" sz="1800" dirty="0" smtClean="0"/>
              <a:t>Firebase-powered real-time chat application</a:t>
            </a:r>
          </a:p>
          <a:p>
            <a:endParaRPr lang="en-US" sz="1800" b="0" i="0" u="none" strike="noStrike" baseline="0" dirty="0">
              <a:latin typeface="Times New Roman" panose="02020603050405020304" pitchFamily="18" charset="0"/>
              <a:cs typeface="Times New Roman" panose="02020603050405020304" pitchFamily="18" charset="0"/>
            </a:endParaRPr>
          </a:p>
          <a:p>
            <a:endParaRPr lang="en-IN" sz="1800" dirty="0">
              <a:solidFill>
                <a:srgbClr val="000000"/>
              </a:solidFill>
              <a:latin typeface="Times New Roman" panose="02020603050405020304" pitchFamily="18" charset="0"/>
              <a:cs typeface="Times New Roman" panose="02020603050405020304" pitchFamily="18" charset="0"/>
            </a:endParaRPr>
          </a:p>
          <a:p>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endParaRPr lang="en-IN" sz="1800" b="0" i="0" u="none" strike="noStrike" baseline="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5837745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2F0ABF-E0DC-4EDB-BCB8-283B49C28DC9}"/>
              </a:ext>
            </a:extLst>
          </p:cNvPr>
          <p:cNvSpPr>
            <a:spLocks noGrp="1"/>
          </p:cNvSpPr>
          <p:nvPr>
            <p:ph type="title"/>
          </p:nvPr>
        </p:nvSpPr>
        <p:spPr>
          <a:xfrm>
            <a:off x="143435" y="313764"/>
            <a:ext cx="11896165" cy="645459"/>
          </a:xfrm>
        </p:spPr>
        <p:txBody>
          <a:bodyPr>
            <a:normAutofit fontScale="90000"/>
          </a:bodyPr>
          <a:lstStyle/>
          <a:p>
            <a:pPr algn="ctr"/>
            <a:r>
              <a:rPr lang="en-US" u="sng" dirty="0" smtClean="0"/>
              <a:t>Technology Stack</a:t>
            </a:r>
            <a:endParaRPr lang="en-IN"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14CE6C7B-E73A-4ACA-91FD-497F5ED3E6AE}"/>
              </a:ext>
            </a:extLst>
          </p:cNvPr>
          <p:cNvSpPr>
            <a:spLocks noGrp="1"/>
          </p:cNvSpPr>
          <p:nvPr>
            <p:ph idx="1"/>
          </p:nvPr>
        </p:nvSpPr>
        <p:spPr>
          <a:xfrm>
            <a:off x="737118" y="1057836"/>
            <a:ext cx="10898155" cy="5620870"/>
          </a:xfrm>
        </p:spPr>
        <p:txBody>
          <a:bodyPr>
            <a:normAutofit/>
          </a:bodyPr>
          <a:lstStyle/>
          <a:p>
            <a:pPr algn="just"/>
            <a:endParaRPr lang="en-US" sz="2000" b="0" i="0" dirty="0">
              <a:solidFill>
                <a:srgbClr val="000000"/>
              </a:solidFill>
              <a:effectLst/>
              <a:latin typeface="Times New Roman" panose="02020603050405020304" pitchFamily="18" charset="0"/>
              <a:cs typeface="Times New Roman" panose="02020603050405020304" pitchFamily="18" charset="0"/>
            </a:endParaRPr>
          </a:p>
          <a:p>
            <a:r>
              <a:rPr lang="en-US" sz="1800" b="1" dirty="0" smtClean="0"/>
              <a:t>Core Web &amp; Scripting:</a:t>
            </a:r>
            <a:r>
              <a:rPr lang="en-US" sz="1800" dirty="0" smtClean="0"/>
              <a:t>  HTML5, CSS3, JavaScript, and </a:t>
            </a:r>
            <a:r>
              <a:rPr lang="en-US" sz="1800" dirty="0" err="1" smtClean="0"/>
              <a:t>jQuery</a:t>
            </a:r>
            <a:r>
              <a:rPr lang="en-US" sz="1800" dirty="0" smtClean="0"/>
              <a:t>.</a:t>
            </a:r>
          </a:p>
          <a:p>
            <a:endParaRPr lang="en-US" sz="1800" dirty="0" smtClean="0"/>
          </a:p>
          <a:p>
            <a:r>
              <a:rPr lang="en-US" sz="1800" b="1" dirty="0" smtClean="0"/>
              <a:t>Modern Frontend Frameworks:</a:t>
            </a:r>
            <a:r>
              <a:rPr lang="en-US" sz="1800" dirty="0" smtClean="0"/>
              <a:t>  React 18, </a:t>
            </a:r>
            <a:r>
              <a:rPr lang="en-US" sz="1800" dirty="0" err="1" smtClean="0"/>
              <a:t>TypeScript</a:t>
            </a:r>
            <a:r>
              <a:rPr lang="en-US" sz="1800" dirty="0" smtClean="0"/>
              <a:t>, and </a:t>
            </a:r>
            <a:r>
              <a:rPr lang="en-US" sz="1800" dirty="0" err="1" smtClean="0"/>
              <a:t>Vite</a:t>
            </a:r>
            <a:r>
              <a:rPr lang="en-US" sz="1800" dirty="0" smtClean="0"/>
              <a:t>. </a:t>
            </a:r>
          </a:p>
          <a:p>
            <a:endParaRPr lang="en-US" sz="1800" dirty="0" smtClean="0"/>
          </a:p>
          <a:p>
            <a:r>
              <a:rPr lang="en-US" sz="1800" b="1" dirty="0" smtClean="0"/>
              <a:t>Styling &amp; UI Components:</a:t>
            </a:r>
            <a:r>
              <a:rPr lang="en-US" sz="1800" dirty="0" smtClean="0"/>
              <a:t>  Tailwind CSS and </a:t>
            </a:r>
            <a:r>
              <a:rPr lang="en-US" sz="1800" dirty="0" err="1" smtClean="0"/>
              <a:t>shadcn</a:t>
            </a:r>
            <a:r>
              <a:rPr lang="en-US" sz="1800" dirty="0" smtClean="0"/>
              <a:t>-style UI. </a:t>
            </a:r>
          </a:p>
          <a:p>
            <a:endParaRPr lang="en-US" sz="1800" dirty="0" smtClean="0"/>
          </a:p>
          <a:p>
            <a:r>
              <a:rPr lang="en-US" sz="1800" b="1" dirty="0" smtClean="0"/>
              <a:t>Cloud Infrastructure (</a:t>
            </a:r>
            <a:r>
              <a:rPr lang="en-US" sz="1800" b="1" dirty="0" err="1" smtClean="0"/>
              <a:t>Serverless</a:t>
            </a:r>
            <a:r>
              <a:rPr lang="en-US" sz="1800" b="1" dirty="0" smtClean="0"/>
              <a:t>):</a:t>
            </a:r>
            <a:r>
              <a:rPr lang="en-US" sz="1800" dirty="0" smtClean="0"/>
              <a:t>  Authentication, Cloud </a:t>
            </a:r>
            <a:r>
              <a:rPr lang="en-US" sz="1800" dirty="0" err="1" smtClean="0"/>
              <a:t>Firestore</a:t>
            </a:r>
            <a:r>
              <a:rPr lang="en-US" sz="1800" dirty="0" smtClean="0"/>
              <a:t> (</a:t>
            </a:r>
            <a:r>
              <a:rPr lang="en-US" sz="1800" dirty="0" err="1" smtClean="0"/>
              <a:t>NoSQL</a:t>
            </a:r>
            <a:r>
              <a:rPr lang="en-US" sz="1800" dirty="0" smtClean="0"/>
              <a:t>), and Firebase Storage. </a:t>
            </a:r>
          </a:p>
          <a:p>
            <a:endParaRPr lang="en-US" sz="1800" dirty="0" smtClean="0"/>
          </a:p>
          <a:p>
            <a:r>
              <a:rPr lang="en-US" sz="1800" b="1" dirty="0" smtClean="0"/>
              <a:t>Routing &amp; State Management:</a:t>
            </a:r>
            <a:r>
              <a:rPr lang="en-US" sz="1800" dirty="0" smtClean="0"/>
              <a:t>  React Router DOM, </a:t>
            </a:r>
            <a:r>
              <a:rPr lang="en-US" sz="1800" dirty="0" err="1" smtClean="0"/>
              <a:t>TanStack</a:t>
            </a:r>
            <a:r>
              <a:rPr lang="en-US" sz="1800" dirty="0" smtClean="0"/>
              <a:t> React Query, and PHP (for root redirection). </a:t>
            </a:r>
          </a:p>
          <a:p>
            <a:endParaRPr lang="en-US" sz="1800" dirty="0" smtClean="0"/>
          </a:p>
          <a:p>
            <a:r>
              <a:rPr lang="en-US" sz="1800" b="1" dirty="0" smtClean="0"/>
              <a:t>Testing &amp; Local Storage:</a:t>
            </a:r>
            <a:r>
              <a:rPr lang="en-US" sz="1800" dirty="0" smtClean="0"/>
              <a:t>  Firebase Emulator, Jest, </a:t>
            </a:r>
            <a:r>
              <a:rPr lang="en-US" sz="1800" dirty="0" err="1" smtClean="0"/>
              <a:t>localStorage</a:t>
            </a:r>
            <a:r>
              <a:rPr lang="en-US" sz="1800" dirty="0" smtClean="0"/>
              <a:t>, and </a:t>
            </a:r>
            <a:r>
              <a:rPr lang="en-US" sz="1800" dirty="0" err="1" smtClean="0"/>
              <a:t>sessionStorage</a:t>
            </a:r>
            <a:r>
              <a:rPr lang="en-US" sz="1800" dirty="0" smtClean="0"/>
              <a:t>. </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7727386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2F0ABF-E0DC-4EDB-BCB8-283B49C28DC9}"/>
              </a:ext>
            </a:extLst>
          </p:cNvPr>
          <p:cNvSpPr>
            <a:spLocks noGrp="1"/>
          </p:cNvSpPr>
          <p:nvPr>
            <p:ph type="title"/>
          </p:nvPr>
        </p:nvSpPr>
        <p:spPr>
          <a:xfrm>
            <a:off x="143435" y="120336"/>
            <a:ext cx="11896165" cy="890779"/>
          </a:xfrm>
        </p:spPr>
        <p:txBody>
          <a:bodyPr>
            <a:normAutofit/>
          </a:bodyPr>
          <a:lstStyle/>
          <a:p>
            <a:pPr algn="ctr"/>
            <a:r>
              <a:rPr lang="en-US" u="sng" dirty="0" smtClean="0"/>
              <a:t>Internship Work</a:t>
            </a:r>
            <a:endParaRPr lang="en-IN" u="sng" dirty="0">
              <a:latin typeface="Times New Roman" panose="02020603050405020304" pitchFamily="18" charset="0"/>
              <a:cs typeface="Times New Roman" panose="02020603050405020304" pitchFamily="18" charset="0"/>
            </a:endParaRPr>
          </a:p>
        </p:txBody>
      </p:sp>
      <p:pic>
        <p:nvPicPr>
          <p:cNvPr id="4" name="Content Placeholder 3" descr="Screenshot 2026-05-06 201426.png"/>
          <p:cNvPicPr>
            <a:picLocks noChangeAspect="1"/>
          </p:cNvPicPr>
          <p:nvPr/>
        </p:nvPicPr>
        <p:blipFill>
          <a:blip r:embed="rId2"/>
          <a:stretch>
            <a:fillRect/>
          </a:stretch>
        </p:blipFill>
        <p:spPr>
          <a:xfrm>
            <a:off x="1034607" y="3448783"/>
            <a:ext cx="4663440" cy="2862134"/>
          </a:xfrm>
          <a:prstGeom prst="rect">
            <a:avLst/>
          </a:prstGeom>
        </p:spPr>
      </p:pic>
      <p:sp>
        <p:nvSpPr>
          <p:cNvPr id="10" name="Content Placeholder 9"/>
          <p:cNvSpPr>
            <a:spLocks noGrp="1"/>
          </p:cNvSpPr>
          <p:nvPr>
            <p:ph idx="1"/>
          </p:nvPr>
        </p:nvSpPr>
        <p:spPr>
          <a:xfrm>
            <a:off x="838200" y="1063868"/>
            <a:ext cx="10515600" cy="5556739"/>
          </a:xfrm>
        </p:spPr>
        <p:txBody>
          <a:bodyPr/>
          <a:lstStyle/>
          <a:p>
            <a:pPr>
              <a:buNone/>
            </a:pPr>
            <a:r>
              <a:rPr lang="en-US" dirty="0" smtClean="0"/>
              <a:t>Task 1: QR </a:t>
            </a:r>
            <a:r>
              <a:rPr lang="en-US" dirty="0" err="1" smtClean="0"/>
              <a:t>Notifier</a:t>
            </a:r>
            <a:r>
              <a:rPr lang="en-US" dirty="0" smtClean="0"/>
              <a:t> System Development</a:t>
            </a:r>
          </a:p>
          <a:p>
            <a:r>
              <a:rPr lang="en-US" sz="1800" dirty="0" smtClean="0"/>
              <a:t>Develop a privacy-first parking communication system</a:t>
            </a:r>
          </a:p>
          <a:p>
            <a:r>
              <a:rPr lang="en-US" sz="1800" dirty="0" smtClean="0"/>
              <a:t>Prevent public exposure of personal phone numbers</a:t>
            </a:r>
          </a:p>
          <a:p>
            <a:r>
              <a:rPr lang="en-US" sz="1800" dirty="0" smtClean="0"/>
              <a:t>Build a modern React-based Single Page Application (SPA)</a:t>
            </a:r>
          </a:p>
          <a:p>
            <a:pPr>
              <a:buNone/>
            </a:pPr>
            <a:r>
              <a:rPr lang="en-US" dirty="0" smtClean="0"/>
              <a:t>QR </a:t>
            </a:r>
            <a:r>
              <a:rPr lang="en-US" dirty="0" err="1" smtClean="0"/>
              <a:t>Notifier</a:t>
            </a:r>
            <a:r>
              <a:rPr lang="en-US" dirty="0" smtClean="0"/>
              <a:t> UI</a:t>
            </a:r>
            <a:endParaRPr lang="en-US" dirty="0"/>
          </a:p>
        </p:txBody>
      </p:sp>
    </p:spTree>
    <p:extLst>
      <p:ext uri="{BB962C8B-B14F-4D97-AF65-F5344CB8AC3E}">
        <p14:creationId xmlns:p14="http://schemas.microsoft.com/office/powerpoint/2010/main" xmlns="" val="7727386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5120"/>
          </a:xfrm>
        </p:spPr>
        <p:txBody>
          <a:bodyPr>
            <a:normAutofit/>
          </a:bodyPr>
          <a:lstStyle/>
          <a:p>
            <a:r>
              <a:rPr lang="en-US" sz="3200" dirty="0" smtClean="0"/>
              <a:t>The QR Communication Workflow Design</a:t>
            </a:r>
            <a:endParaRPr lang="en-US" sz="3200" dirty="0"/>
          </a:p>
        </p:txBody>
      </p:sp>
      <p:pic>
        <p:nvPicPr>
          <p:cNvPr id="4" name="Content Placeholder 3" descr="Screenshot 2026-05-08 060553.png"/>
          <p:cNvPicPr>
            <a:picLocks noGrp="1" noChangeAspect="1"/>
          </p:cNvPicPr>
          <p:nvPr>
            <p:ph idx="1"/>
          </p:nvPr>
        </p:nvPicPr>
        <p:blipFill>
          <a:blip r:embed="rId2"/>
          <a:stretch>
            <a:fillRect/>
          </a:stretch>
        </p:blipFill>
        <p:spPr>
          <a:xfrm>
            <a:off x="8215697" y="2171961"/>
            <a:ext cx="3976303" cy="2011680"/>
          </a:xfrm>
        </p:spPr>
      </p:pic>
      <p:sp>
        <p:nvSpPr>
          <p:cNvPr id="5" name="Rectangle 4"/>
          <p:cNvSpPr/>
          <p:nvPr/>
        </p:nvSpPr>
        <p:spPr>
          <a:xfrm>
            <a:off x="243254" y="1041819"/>
            <a:ext cx="7977554" cy="7294305"/>
          </a:xfrm>
          <a:prstGeom prst="rect">
            <a:avLst/>
          </a:prstGeom>
        </p:spPr>
        <p:txBody>
          <a:bodyPr wrap="square">
            <a:spAutoFit/>
          </a:bodyPr>
          <a:lstStyle/>
          <a:p>
            <a:r>
              <a:rPr lang="en-US" dirty="0" smtClean="0"/>
              <a:t>Stage 1: Vehicle Registration </a:t>
            </a:r>
          </a:p>
          <a:p>
            <a:r>
              <a:rPr lang="en-US" dirty="0" smtClean="0"/>
              <a:t>The vehicle owner accesses the application, authenticates, and registers their vehicle data (license plate model) </a:t>
            </a:r>
          </a:p>
          <a:p>
            <a:endParaRPr lang="en-US" dirty="0" smtClean="0"/>
          </a:p>
          <a:p>
            <a:r>
              <a:rPr lang="en-US" dirty="0" smtClean="0"/>
              <a:t>Stage 2: QR Tokenization </a:t>
            </a:r>
          </a:p>
          <a:p>
            <a:r>
              <a:rPr lang="en-US" dirty="0" smtClean="0"/>
              <a:t>The critical architectural requirement is that the generated QR code must not contain the owner’s phone number.</a:t>
            </a:r>
          </a:p>
          <a:p>
            <a:endParaRPr lang="en-US" dirty="0" smtClean="0"/>
          </a:p>
          <a:p>
            <a:r>
              <a:rPr lang="en-US" dirty="0" smtClean="0"/>
              <a:t>Stage 3: Secure Scanning Protocol </a:t>
            </a:r>
          </a:p>
          <a:p>
            <a:r>
              <a:rPr lang="en-US" dirty="0" smtClean="0"/>
              <a:t>When an individual encounters a blocked vehicle, they scan the QR sticker using a standard </a:t>
            </a:r>
            <a:r>
              <a:rPr lang="en-US" dirty="0" err="1" smtClean="0"/>
              <a:t>smartphone</a:t>
            </a:r>
            <a:r>
              <a:rPr lang="en-US" dirty="0" smtClean="0"/>
              <a:t> camera.</a:t>
            </a:r>
          </a:p>
          <a:p>
            <a:endParaRPr lang="en-US" dirty="0" smtClean="0"/>
          </a:p>
          <a:p>
            <a:r>
              <a:rPr lang="en-US" dirty="0" smtClean="0"/>
              <a:t>Stage 4: Notification Dispatch </a:t>
            </a:r>
          </a:p>
          <a:p>
            <a:r>
              <a:rPr lang="en-US" dirty="0" smtClean="0"/>
              <a:t>Upon selecting a template, the frontend makes a POST request to the backend API. The backend resolves the x8f9q2m4 token against the database, retrieves the actual owner’s 19 device ID, and dispatches the notification. The scanner and owner interact entirely through the proxy server.</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2F0ABF-E0DC-4EDB-BCB8-283B49C28DC9}"/>
              </a:ext>
            </a:extLst>
          </p:cNvPr>
          <p:cNvSpPr>
            <a:spLocks noGrp="1"/>
          </p:cNvSpPr>
          <p:nvPr>
            <p:ph type="title"/>
          </p:nvPr>
        </p:nvSpPr>
        <p:spPr>
          <a:xfrm>
            <a:off x="143435" y="120336"/>
            <a:ext cx="11896165" cy="890779"/>
          </a:xfrm>
        </p:spPr>
        <p:txBody>
          <a:bodyPr>
            <a:normAutofit/>
          </a:bodyPr>
          <a:lstStyle/>
          <a:p>
            <a:pPr algn="ctr"/>
            <a:r>
              <a:rPr lang="en-US" u="sng" dirty="0" smtClean="0"/>
              <a:t>Internship Work</a:t>
            </a:r>
            <a:endParaRPr lang="en-IN" u="sng" dirty="0">
              <a:latin typeface="Times New Roman" panose="02020603050405020304" pitchFamily="18" charset="0"/>
              <a:cs typeface="Times New Roman" panose="02020603050405020304" pitchFamily="18" charset="0"/>
            </a:endParaRPr>
          </a:p>
        </p:txBody>
      </p:sp>
      <p:sp>
        <p:nvSpPr>
          <p:cNvPr id="10" name="Content Placeholder 9"/>
          <p:cNvSpPr>
            <a:spLocks noGrp="1"/>
          </p:cNvSpPr>
          <p:nvPr>
            <p:ph idx="1"/>
          </p:nvPr>
        </p:nvSpPr>
        <p:spPr>
          <a:xfrm>
            <a:off x="838200" y="1063868"/>
            <a:ext cx="10515600" cy="5556739"/>
          </a:xfrm>
        </p:spPr>
        <p:txBody>
          <a:bodyPr/>
          <a:lstStyle/>
          <a:p>
            <a:pPr>
              <a:buNone/>
            </a:pPr>
            <a:r>
              <a:rPr lang="en-US" dirty="0" smtClean="0"/>
              <a:t>Task 2: QR-</a:t>
            </a:r>
            <a:r>
              <a:rPr lang="en-US" dirty="0" err="1" smtClean="0"/>
              <a:t>Alimy</a:t>
            </a:r>
            <a:r>
              <a:rPr lang="en-US" dirty="0" smtClean="0"/>
              <a:t> Promotional Website</a:t>
            </a:r>
          </a:p>
          <a:p>
            <a:r>
              <a:rPr lang="en-US" sz="1800" dirty="0" smtClean="0"/>
              <a:t>Develop a responsive promotional website for the QR-</a:t>
            </a:r>
            <a:r>
              <a:rPr lang="en-US" sz="1800" dirty="0" err="1" smtClean="0"/>
              <a:t>Alimy</a:t>
            </a:r>
            <a:r>
              <a:rPr lang="en-US" sz="1800" dirty="0" smtClean="0"/>
              <a:t> service with interactive </a:t>
            </a:r>
            <a:r>
              <a:rPr lang="en-US" sz="1800" dirty="0" err="1" smtClean="0"/>
              <a:t>onboarding</a:t>
            </a:r>
            <a:r>
              <a:rPr lang="en-US" sz="1800" dirty="0" smtClean="0"/>
              <a:t> and user-guide features.</a:t>
            </a:r>
          </a:p>
          <a:p>
            <a:r>
              <a:rPr lang="en-US" sz="1800" dirty="0" smtClean="0"/>
              <a:t>Responsive multi-device design </a:t>
            </a:r>
          </a:p>
          <a:p>
            <a:r>
              <a:rPr lang="en-US" sz="1800" dirty="0" smtClean="0"/>
              <a:t>Interactive QR registration workflow </a:t>
            </a:r>
          </a:p>
          <a:p>
            <a:r>
              <a:rPr lang="en-US" sz="1800" dirty="0" smtClean="0"/>
              <a:t>Dynamic image mapping </a:t>
            </a:r>
          </a:p>
          <a:p>
            <a:r>
              <a:rPr lang="en-US" sz="1800" dirty="0" smtClean="0"/>
              <a:t>Lightweight static architecture </a:t>
            </a:r>
          </a:p>
          <a:p>
            <a:r>
              <a:rPr lang="en-US" sz="1800" dirty="0" smtClean="0"/>
              <a:t>Pixel-perfect </a:t>
            </a:r>
            <a:r>
              <a:rPr lang="en-US" sz="1800" dirty="0" err="1" smtClean="0"/>
              <a:t>Figma</a:t>
            </a:r>
            <a:r>
              <a:rPr lang="en-US" sz="1800" dirty="0" smtClean="0"/>
              <a:t> implementation</a:t>
            </a:r>
          </a:p>
        </p:txBody>
      </p:sp>
    </p:spTree>
    <p:extLst>
      <p:ext uri="{BB962C8B-B14F-4D97-AF65-F5344CB8AC3E}">
        <p14:creationId xmlns:p14="http://schemas.microsoft.com/office/powerpoint/2010/main" xmlns="" val="7727386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2F0ABF-E0DC-4EDB-BCB8-283B49C28DC9}"/>
              </a:ext>
            </a:extLst>
          </p:cNvPr>
          <p:cNvSpPr>
            <a:spLocks noGrp="1"/>
          </p:cNvSpPr>
          <p:nvPr>
            <p:ph type="title"/>
          </p:nvPr>
        </p:nvSpPr>
        <p:spPr>
          <a:xfrm>
            <a:off x="143435" y="120336"/>
            <a:ext cx="11896165" cy="890779"/>
          </a:xfrm>
        </p:spPr>
        <p:txBody>
          <a:bodyPr>
            <a:normAutofit/>
          </a:bodyPr>
          <a:lstStyle/>
          <a:p>
            <a:pPr algn="ctr"/>
            <a:r>
              <a:rPr lang="en-US" u="sng" dirty="0" smtClean="0"/>
              <a:t>Internship Work</a:t>
            </a:r>
            <a:endParaRPr lang="en-IN" u="sng" dirty="0">
              <a:latin typeface="Times New Roman" panose="02020603050405020304" pitchFamily="18" charset="0"/>
              <a:cs typeface="Times New Roman" panose="02020603050405020304" pitchFamily="18" charset="0"/>
            </a:endParaRPr>
          </a:p>
        </p:txBody>
      </p:sp>
      <p:pic>
        <p:nvPicPr>
          <p:cNvPr id="2050" name="Picture 2" descr="C:\Users\DeLL\Downloads\Screenshot 2026-05-06 204822.png"/>
          <p:cNvPicPr>
            <a:picLocks noGrp="1" noChangeAspect="1" noChangeArrowheads="1"/>
          </p:cNvPicPr>
          <p:nvPr>
            <p:ph idx="1"/>
          </p:nvPr>
        </p:nvPicPr>
        <p:blipFill>
          <a:blip r:embed="rId2"/>
          <a:srcRect/>
          <a:stretch>
            <a:fillRect/>
          </a:stretch>
        </p:blipFill>
        <p:spPr bwMode="auto">
          <a:xfrm>
            <a:off x="6897358" y="1492017"/>
            <a:ext cx="5155715" cy="2560320"/>
          </a:xfrm>
          <a:prstGeom prst="rect">
            <a:avLst/>
          </a:prstGeom>
          <a:noFill/>
        </p:spPr>
      </p:pic>
      <p:sp>
        <p:nvSpPr>
          <p:cNvPr id="5" name="Rectangle 4"/>
          <p:cNvSpPr/>
          <p:nvPr/>
        </p:nvSpPr>
        <p:spPr>
          <a:xfrm>
            <a:off x="154074" y="1040230"/>
            <a:ext cx="7130981" cy="5909310"/>
          </a:xfrm>
          <a:prstGeom prst="rect">
            <a:avLst/>
          </a:prstGeom>
        </p:spPr>
        <p:txBody>
          <a:bodyPr wrap="square">
            <a:spAutoFit/>
          </a:bodyPr>
          <a:lstStyle/>
          <a:p>
            <a:r>
              <a:rPr lang="en-US" b="1" dirty="0" smtClean="0"/>
              <a:t>Task 3: Real-Time Chat Application with Firebase</a:t>
            </a:r>
          </a:p>
          <a:p>
            <a:endParaRPr lang="en-US" b="1" dirty="0" smtClean="0"/>
          </a:p>
          <a:p>
            <a:pPr>
              <a:buFont typeface="Arial" pitchFamily="34" charset="0"/>
              <a:buChar char="•"/>
            </a:pPr>
            <a:r>
              <a:rPr lang="en-US" dirty="0" smtClean="0"/>
              <a:t> Develop a real-time cloud-based chat application with secure             authentication, live messaging, and media sharing capabilities.</a:t>
            </a:r>
          </a:p>
          <a:p>
            <a:endParaRPr lang="en-US" dirty="0" smtClean="0"/>
          </a:p>
          <a:p>
            <a:pPr>
              <a:buFont typeface="Arial" pitchFamily="34" charset="0"/>
              <a:buChar char="•"/>
            </a:pPr>
            <a:r>
              <a:rPr lang="en-US" dirty="0" smtClean="0"/>
              <a:t> Real-time message synchronization </a:t>
            </a:r>
          </a:p>
          <a:p>
            <a:pPr>
              <a:buFont typeface="Arial" pitchFamily="34" charset="0"/>
              <a:buChar char="•"/>
            </a:pPr>
            <a:r>
              <a:rPr lang="en-US" dirty="0" smtClean="0"/>
              <a:t> Anonymous user authentication </a:t>
            </a:r>
          </a:p>
          <a:p>
            <a:pPr>
              <a:buFont typeface="Arial" pitchFamily="34" charset="0"/>
              <a:buChar char="•"/>
            </a:pPr>
            <a:r>
              <a:rPr lang="en-US" dirty="0" smtClean="0"/>
              <a:t> Image upload and sharing </a:t>
            </a:r>
          </a:p>
          <a:p>
            <a:pPr>
              <a:buFont typeface="Arial" pitchFamily="34" charset="0"/>
              <a:buChar char="•"/>
            </a:pPr>
            <a:r>
              <a:rPr lang="en-US" dirty="0" smtClean="0"/>
              <a:t> Typing indicators Online/offline presence tracking </a:t>
            </a:r>
          </a:p>
          <a:p>
            <a:pPr>
              <a:buFont typeface="Arial" pitchFamily="34" charset="0"/>
              <a:buChar char="•"/>
            </a:pPr>
            <a:r>
              <a:rPr lang="en-US" dirty="0" smtClean="0"/>
              <a:t> Cursor-based message pagination</a:t>
            </a:r>
          </a:p>
          <a:p>
            <a:endParaRPr lang="en-US" dirty="0" smtClean="0"/>
          </a:p>
          <a:p>
            <a:r>
              <a:rPr lang="en-US" b="1" dirty="0" smtClean="0"/>
              <a:t>Technologies Used</a:t>
            </a:r>
          </a:p>
          <a:p>
            <a:r>
              <a:rPr lang="en-US" dirty="0" smtClean="0"/>
              <a:t>HTML5,  CSS3,  JavaScript,  Firebase</a:t>
            </a:r>
          </a:p>
          <a:p>
            <a:endParaRPr lang="en-US" dirty="0" smtClean="0"/>
          </a:p>
          <a:p>
            <a:r>
              <a:rPr lang="en-US" b="1" dirty="0" smtClean="0"/>
              <a:t>Firebase Services Used</a:t>
            </a:r>
          </a:p>
          <a:p>
            <a:r>
              <a:rPr lang="en-US" dirty="0" smtClean="0"/>
              <a:t>Firebase Authentication</a:t>
            </a:r>
          </a:p>
          <a:p>
            <a:r>
              <a:rPr lang="en-US" dirty="0" smtClean="0"/>
              <a:t>Cloud </a:t>
            </a:r>
            <a:r>
              <a:rPr lang="en-US" dirty="0" err="1" smtClean="0"/>
              <a:t>Firestore</a:t>
            </a:r>
            <a:endParaRPr lang="en-US" dirty="0" smtClean="0"/>
          </a:p>
          <a:p>
            <a:r>
              <a:rPr lang="en-US" dirty="0" smtClean="0"/>
              <a:t>Firebase Storage</a:t>
            </a:r>
          </a:p>
          <a:p>
            <a:pPr>
              <a:buFont typeface="Arial" pitchFamily="34" charset="0"/>
              <a:buChar char="•"/>
            </a:pPr>
            <a:endParaRPr lang="en-US" dirty="0" smtClean="0"/>
          </a:p>
          <a:p>
            <a:pPr>
              <a:buFont typeface="Arial" pitchFamily="34" charset="0"/>
              <a:buChar char="•"/>
            </a:pPr>
            <a:endParaRPr lang="en-US" dirty="0" smtClean="0"/>
          </a:p>
          <a:p>
            <a:pPr>
              <a:buFont typeface="Arial" pitchFamily="34" charset="0"/>
              <a:buChar char="•"/>
            </a:pPr>
            <a:endParaRPr lang="en-US" dirty="0"/>
          </a:p>
        </p:txBody>
      </p:sp>
    </p:spTree>
    <p:extLst>
      <p:ext uri="{BB962C8B-B14F-4D97-AF65-F5344CB8AC3E}">
        <p14:creationId xmlns:p14="http://schemas.microsoft.com/office/powerpoint/2010/main" xmlns="" val="7727386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2F0ABF-E0DC-4EDB-BCB8-283B49C28DC9}"/>
              </a:ext>
            </a:extLst>
          </p:cNvPr>
          <p:cNvSpPr>
            <a:spLocks noGrp="1"/>
          </p:cNvSpPr>
          <p:nvPr>
            <p:ph type="title"/>
          </p:nvPr>
        </p:nvSpPr>
        <p:spPr>
          <a:xfrm>
            <a:off x="143435" y="120336"/>
            <a:ext cx="11896165" cy="890779"/>
          </a:xfrm>
        </p:spPr>
        <p:txBody>
          <a:bodyPr>
            <a:normAutofit/>
          </a:bodyPr>
          <a:lstStyle/>
          <a:p>
            <a:pPr algn="ctr"/>
            <a:r>
              <a:rPr lang="en-US" u="sng" dirty="0" smtClean="0"/>
              <a:t>Internship Work</a:t>
            </a:r>
            <a:endParaRPr lang="en-IN" u="sng" dirty="0">
              <a:latin typeface="Times New Roman" panose="02020603050405020304" pitchFamily="18" charset="0"/>
              <a:cs typeface="Times New Roman" panose="02020603050405020304" pitchFamily="18" charset="0"/>
            </a:endParaRPr>
          </a:p>
        </p:txBody>
      </p:sp>
      <p:sp>
        <p:nvSpPr>
          <p:cNvPr id="10" name="Content Placeholder 9"/>
          <p:cNvSpPr>
            <a:spLocks noGrp="1"/>
          </p:cNvSpPr>
          <p:nvPr>
            <p:ph idx="1"/>
          </p:nvPr>
        </p:nvSpPr>
        <p:spPr>
          <a:xfrm>
            <a:off x="838200" y="1063868"/>
            <a:ext cx="10515600" cy="5556739"/>
          </a:xfrm>
        </p:spPr>
        <p:txBody>
          <a:bodyPr>
            <a:normAutofit/>
          </a:bodyPr>
          <a:lstStyle/>
          <a:p>
            <a:r>
              <a:rPr lang="en-US" dirty="0" smtClean="0"/>
              <a:t>Task 3: Real-Time Chat Application with Firebase</a:t>
            </a:r>
          </a:p>
          <a:p>
            <a:pPr>
              <a:buNone/>
            </a:pPr>
            <a:r>
              <a:rPr lang="en-US" sz="2400" b="1" dirty="0" smtClean="0"/>
              <a:t>System Architecture and </a:t>
            </a:r>
            <a:r>
              <a:rPr lang="en-US" sz="2400" b="1" dirty="0" err="1" smtClean="0"/>
              <a:t>Serverless</a:t>
            </a:r>
            <a:r>
              <a:rPr lang="en-US" sz="2400" b="1" dirty="0" smtClean="0"/>
              <a:t> Model</a:t>
            </a:r>
          </a:p>
          <a:p>
            <a:pPr>
              <a:buNone/>
            </a:pPr>
            <a:r>
              <a:rPr lang="en-US" sz="2000" u="sng" dirty="0" smtClean="0"/>
              <a:t>Traditional Architecture</a:t>
            </a:r>
          </a:p>
          <a:p>
            <a:r>
              <a:rPr lang="en-US" sz="1800" dirty="0" smtClean="0"/>
              <a:t>Requires dedicated backend servers</a:t>
            </a:r>
          </a:p>
          <a:p>
            <a:r>
              <a:rPr lang="en-US" sz="1800" dirty="0" smtClean="0"/>
              <a:t>Uses </a:t>
            </a:r>
            <a:r>
              <a:rPr lang="en-US" sz="1800" dirty="0" err="1" smtClean="0"/>
              <a:t>WebSocket</a:t>
            </a:r>
            <a:r>
              <a:rPr lang="en-US" sz="1800" dirty="0" smtClean="0"/>
              <a:t> servers (Socket.io)</a:t>
            </a:r>
          </a:p>
          <a:p>
            <a:r>
              <a:rPr lang="en-US" sz="1800" dirty="0" smtClean="0"/>
              <a:t>Manages SQL databases and load balancers</a:t>
            </a:r>
          </a:p>
          <a:p>
            <a:r>
              <a:rPr lang="en-US" sz="1800" dirty="0" smtClean="0"/>
              <a:t>Higher infrastructure complexity</a:t>
            </a:r>
          </a:p>
          <a:p>
            <a:pPr>
              <a:buNone/>
            </a:pPr>
            <a:r>
              <a:rPr lang="en-US" dirty="0" smtClean="0"/>
              <a:t>  </a:t>
            </a:r>
            <a:r>
              <a:rPr lang="en-US" sz="2000" u="sng" dirty="0" smtClean="0"/>
              <a:t>Proposed </a:t>
            </a:r>
            <a:r>
              <a:rPr lang="en-US" sz="2000" u="sng" dirty="0" err="1" smtClean="0"/>
              <a:t>Serverless</a:t>
            </a:r>
            <a:r>
              <a:rPr lang="en-US" sz="2000" u="sng" dirty="0" smtClean="0"/>
              <a:t> Architecture</a:t>
            </a:r>
          </a:p>
          <a:p>
            <a:r>
              <a:rPr lang="en-US" sz="1800" dirty="0" smtClean="0"/>
              <a:t>Direct client-to-cloud communication</a:t>
            </a:r>
          </a:p>
          <a:p>
            <a:r>
              <a:rPr lang="en-US" sz="1800" dirty="0" smtClean="0"/>
              <a:t>Firebase SDK integration</a:t>
            </a:r>
          </a:p>
          <a:p>
            <a:r>
              <a:rPr lang="en-US" sz="1800" dirty="0" smtClean="0"/>
              <a:t>No dedicated backend server required</a:t>
            </a:r>
          </a:p>
          <a:p>
            <a:r>
              <a:rPr lang="en-US" sz="1800" dirty="0" smtClean="0"/>
              <a:t>Real-time synchronization using </a:t>
            </a:r>
            <a:r>
              <a:rPr lang="en-US" sz="1800" dirty="0" err="1" smtClean="0"/>
              <a:t>Firestore</a:t>
            </a:r>
            <a:endParaRPr lang="en-US" sz="1800" dirty="0" smtClean="0"/>
          </a:p>
          <a:p>
            <a:pPr>
              <a:buNone/>
            </a:pPr>
            <a:endParaRPr lang="en-US" b="1" dirty="0" smtClean="0"/>
          </a:p>
        </p:txBody>
      </p:sp>
      <p:pic>
        <p:nvPicPr>
          <p:cNvPr id="4" name="Picture 2"/>
          <p:cNvPicPr>
            <a:picLocks noChangeAspect="1" noChangeArrowheads="1"/>
          </p:cNvPicPr>
          <p:nvPr/>
        </p:nvPicPr>
        <p:blipFill>
          <a:blip r:embed="rId2"/>
          <a:srcRect/>
          <a:stretch>
            <a:fillRect/>
          </a:stretch>
        </p:blipFill>
        <p:spPr bwMode="auto">
          <a:xfrm>
            <a:off x="7184906" y="2168495"/>
            <a:ext cx="4846320" cy="3385679"/>
          </a:xfrm>
          <a:prstGeom prst="rect">
            <a:avLst/>
          </a:prstGeom>
          <a:noFill/>
          <a:ln w="9525">
            <a:noFill/>
            <a:miter lim="800000"/>
            <a:headEnd/>
            <a:tailEnd/>
          </a:ln>
          <a:effectLst/>
        </p:spPr>
      </p:pic>
    </p:spTree>
    <p:extLst>
      <p:ext uri="{BB962C8B-B14F-4D97-AF65-F5344CB8AC3E}">
        <p14:creationId xmlns:p14="http://schemas.microsoft.com/office/powerpoint/2010/main" xmlns="" val="7727386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488984"/>
          </a:xfrm>
        </p:spPr>
        <p:txBody>
          <a:bodyPr>
            <a:normAutofit fontScale="90000"/>
          </a:bodyPr>
          <a:lstStyle/>
          <a:p>
            <a:r>
              <a:rPr lang="en-US" u="sng" dirty="0" smtClean="0"/>
              <a:t>Challenges Faced and Solutions</a:t>
            </a:r>
            <a:endParaRPr lang="en-US" u="sng" dirty="0"/>
          </a:p>
        </p:txBody>
      </p:sp>
      <p:sp>
        <p:nvSpPr>
          <p:cNvPr id="5" name="Content Placeholder 4"/>
          <p:cNvSpPr>
            <a:spLocks noGrp="1"/>
          </p:cNvSpPr>
          <p:nvPr>
            <p:ph idx="1"/>
          </p:nvPr>
        </p:nvSpPr>
        <p:spPr>
          <a:xfrm>
            <a:off x="838200" y="1034980"/>
            <a:ext cx="10515600" cy="5141983"/>
          </a:xfrm>
        </p:spPr>
        <p:txBody>
          <a:bodyPr>
            <a:normAutofit/>
          </a:bodyPr>
          <a:lstStyle/>
          <a:p>
            <a:pPr>
              <a:buNone/>
            </a:pPr>
            <a:r>
              <a:rPr lang="en-US" b="1" dirty="0" smtClean="0"/>
              <a:t>  </a:t>
            </a:r>
            <a:r>
              <a:rPr lang="en-US" b="1" u="sng" dirty="0" smtClean="0"/>
              <a:t>Challenges</a:t>
            </a:r>
          </a:p>
          <a:p>
            <a:r>
              <a:rPr lang="en-US" sz="2000" dirty="0" smtClean="0"/>
              <a:t>Real-time synchronization handling </a:t>
            </a:r>
          </a:p>
          <a:p>
            <a:r>
              <a:rPr lang="en-US" sz="2000" dirty="0" smtClean="0"/>
              <a:t>Responsive UI across devices </a:t>
            </a:r>
          </a:p>
          <a:p>
            <a:r>
              <a:rPr lang="en-US" sz="2000" dirty="0" smtClean="0"/>
              <a:t>Firebase security rule configuration </a:t>
            </a:r>
          </a:p>
          <a:p>
            <a:r>
              <a:rPr lang="en-US" sz="2000" dirty="0" smtClean="0"/>
              <a:t>Large image optimization </a:t>
            </a:r>
          </a:p>
          <a:p>
            <a:r>
              <a:rPr lang="en-US" sz="2000" dirty="0" smtClean="0"/>
              <a:t>State management complexity</a:t>
            </a:r>
          </a:p>
          <a:p>
            <a:pPr>
              <a:buNone/>
            </a:pPr>
            <a:r>
              <a:rPr lang="en-US" b="1" dirty="0" smtClean="0"/>
              <a:t>  </a:t>
            </a:r>
            <a:r>
              <a:rPr lang="en-US" b="1" u="sng" dirty="0" smtClean="0"/>
              <a:t>Solutions</a:t>
            </a:r>
          </a:p>
          <a:p>
            <a:r>
              <a:rPr lang="en-US" sz="2000" dirty="0" err="1" smtClean="0"/>
              <a:t>Firestore</a:t>
            </a:r>
            <a:r>
              <a:rPr lang="en-US" sz="2000" dirty="0" smtClean="0"/>
              <a:t> real-time listeners </a:t>
            </a:r>
          </a:p>
          <a:p>
            <a:r>
              <a:rPr lang="en-US" sz="2000" dirty="0" smtClean="0"/>
              <a:t>Tailwind responsive utilities </a:t>
            </a:r>
          </a:p>
          <a:p>
            <a:r>
              <a:rPr lang="en-US" sz="2000" dirty="0" smtClean="0"/>
              <a:t>Secure Firebase Rules </a:t>
            </a:r>
          </a:p>
          <a:p>
            <a:r>
              <a:rPr lang="en-US" sz="2000" dirty="0" smtClean="0"/>
              <a:t>Image compression &amp; lazy loading </a:t>
            </a:r>
          </a:p>
          <a:p>
            <a:r>
              <a:rPr lang="en-US" sz="2000" dirty="0" smtClean="0"/>
              <a:t>React Hooks and modular architecture</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2F0ABF-E0DC-4EDB-BCB8-283B49C28DC9}"/>
              </a:ext>
            </a:extLst>
          </p:cNvPr>
          <p:cNvSpPr>
            <a:spLocks noGrp="1"/>
          </p:cNvSpPr>
          <p:nvPr>
            <p:ph type="title"/>
          </p:nvPr>
        </p:nvSpPr>
        <p:spPr>
          <a:xfrm>
            <a:off x="143435" y="120336"/>
            <a:ext cx="11896165" cy="890779"/>
          </a:xfrm>
        </p:spPr>
        <p:txBody>
          <a:bodyPr>
            <a:normAutofit/>
          </a:bodyPr>
          <a:lstStyle/>
          <a:p>
            <a:pPr algn="ctr"/>
            <a:r>
              <a:rPr lang="en-US" u="sng" dirty="0" smtClean="0"/>
              <a:t>Conclusion</a:t>
            </a:r>
            <a:endParaRPr lang="en-IN" u="sng" dirty="0">
              <a:latin typeface="Times New Roman" panose="02020603050405020304" pitchFamily="18" charset="0"/>
              <a:cs typeface="Times New Roman" panose="02020603050405020304" pitchFamily="18" charset="0"/>
            </a:endParaRPr>
          </a:p>
        </p:txBody>
      </p:sp>
      <p:sp>
        <p:nvSpPr>
          <p:cNvPr id="10" name="Content Placeholder 9"/>
          <p:cNvSpPr>
            <a:spLocks noGrp="1"/>
          </p:cNvSpPr>
          <p:nvPr>
            <p:ph idx="1"/>
          </p:nvPr>
        </p:nvSpPr>
        <p:spPr>
          <a:xfrm>
            <a:off x="838200" y="1063868"/>
            <a:ext cx="10515600" cy="5556739"/>
          </a:xfrm>
        </p:spPr>
        <p:txBody>
          <a:bodyPr/>
          <a:lstStyle/>
          <a:p>
            <a:r>
              <a:rPr lang="en-US" sz="2000" dirty="0" smtClean="0"/>
              <a:t>Successfully completed three industry-oriented development projects</a:t>
            </a:r>
          </a:p>
          <a:p>
            <a:r>
              <a:rPr lang="en-US" sz="2000" dirty="0" smtClean="0"/>
              <a:t>Developed privacy-first communication and notification systems</a:t>
            </a:r>
          </a:p>
          <a:p>
            <a:r>
              <a:rPr lang="en-US" sz="2000" dirty="0" smtClean="0"/>
              <a:t>Gained practical experience in React, </a:t>
            </a:r>
            <a:r>
              <a:rPr lang="en-US" sz="2000" dirty="0" err="1" smtClean="0"/>
              <a:t>TypeScript</a:t>
            </a:r>
            <a:r>
              <a:rPr lang="en-US" sz="2000" dirty="0" smtClean="0"/>
              <a:t>, Firebase, and responsive web technologies</a:t>
            </a:r>
          </a:p>
          <a:p>
            <a:r>
              <a:rPr lang="en-US" sz="2000" dirty="0" smtClean="0"/>
              <a:t>Implemented real-time synchronization and </a:t>
            </a:r>
            <a:r>
              <a:rPr lang="en-US" sz="2000" dirty="0" err="1" smtClean="0"/>
              <a:t>serverless</a:t>
            </a:r>
            <a:r>
              <a:rPr lang="en-US" sz="2000" dirty="0" smtClean="0"/>
              <a:t> cloud architecture</a:t>
            </a:r>
          </a:p>
          <a:p>
            <a:r>
              <a:rPr lang="en-US" sz="2000" dirty="0" smtClean="0"/>
              <a:t>Improved frontend engineering, UI/UX implementation, and debugging skills</a:t>
            </a:r>
          </a:p>
          <a:p>
            <a:r>
              <a:rPr lang="en-US" sz="2000" dirty="0" smtClean="0"/>
              <a:t>Learned Agile development workflow, </a:t>
            </a:r>
            <a:r>
              <a:rPr lang="en-US" sz="2000" dirty="0" err="1" smtClean="0"/>
              <a:t>GitHub</a:t>
            </a:r>
            <a:r>
              <a:rPr lang="en-US" sz="2000" dirty="0" smtClean="0"/>
              <a:t> collaboration, and real-world software engineering practices</a:t>
            </a:r>
          </a:p>
          <a:p>
            <a:r>
              <a:rPr lang="en-US" sz="2000" dirty="0" smtClean="0"/>
              <a:t>Bridged theoretical academic knowledge with practical industrial application development</a:t>
            </a:r>
          </a:p>
          <a:p>
            <a:pPr>
              <a:buNone/>
            </a:pPr>
            <a:endParaRPr lang="en-US" dirty="0" smtClean="0"/>
          </a:p>
        </p:txBody>
      </p:sp>
    </p:spTree>
    <p:extLst>
      <p:ext uri="{BB962C8B-B14F-4D97-AF65-F5344CB8AC3E}">
        <p14:creationId xmlns:p14="http://schemas.microsoft.com/office/powerpoint/2010/main" xmlns="" val="7727386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2F0ABF-E0DC-4EDB-BCB8-283B49C28DC9}"/>
              </a:ext>
            </a:extLst>
          </p:cNvPr>
          <p:cNvSpPr>
            <a:spLocks noGrp="1"/>
          </p:cNvSpPr>
          <p:nvPr>
            <p:ph type="title"/>
          </p:nvPr>
        </p:nvSpPr>
        <p:spPr>
          <a:xfrm>
            <a:off x="143435" y="120336"/>
            <a:ext cx="11896165" cy="890779"/>
          </a:xfrm>
        </p:spPr>
        <p:txBody>
          <a:bodyPr>
            <a:normAutofit fontScale="90000"/>
          </a:bodyPr>
          <a:lstStyle/>
          <a:p>
            <a:pPr algn="ctr"/>
            <a:r>
              <a:rPr lang="en-US" u="sng" dirty="0" smtClean="0"/>
              <a:t>Future Scope</a:t>
            </a:r>
            <a:br>
              <a:rPr lang="en-US" u="sng" dirty="0" smtClean="0"/>
            </a:br>
            <a:endParaRPr lang="en-IN" u="sng" dirty="0">
              <a:latin typeface="Times New Roman" panose="02020603050405020304" pitchFamily="18" charset="0"/>
              <a:cs typeface="Times New Roman" panose="02020603050405020304" pitchFamily="18" charset="0"/>
            </a:endParaRPr>
          </a:p>
        </p:txBody>
      </p:sp>
      <p:sp>
        <p:nvSpPr>
          <p:cNvPr id="10" name="Content Placeholder 9"/>
          <p:cNvSpPr>
            <a:spLocks noGrp="1"/>
          </p:cNvSpPr>
          <p:nvPr>
            <p:ph idx="1"/>
          </p:nvPr>
        </p:nvSpPr>
        <p:spPr>
          <a:xfrm>
            <a:off x="838200" y="1063868"/>
            <a:ext cx="10515600" cy="5556739"/>
          </a:xfrm>
        </p:spPr>
        <p:txBody>
          <a:bodyPr/>
          <a:lstStyle/>
          <a:p>
            <a:r>
              <a:rPr lang="en-US" sz="2000" dirty="0" smtClean="0"/>
              <a:t>Integration of AI-based smart parking analytics</a:t>
            </a:r>
          </a:p>
          <a:p>
            <a:r>
              <a:rPr lang="en-US" sz="2000" dirty="0" smtClean="0"/>
              <a:t>Expansion of push notification and alert systems</a:t>
            </a:r>
          </a:p>
          <a:p>
            <a:r>
              <a:rPr lang="en-US" sz="2000" dirty="0" smtClean="0"/>
              <a:t>Multi-language and internationalization support</a:t>
            </a:r>
          </a:p>
          <a:p>
            <a:r>
              <a:rPr lang="en-US" sz="2000" dirty="0" smtClean="0"/>
              <a:t>Enhanced Firebase security and access control mechanisms</a:t>
            </a:r>
          </a:p>
          <a:p>
            <a:r>
              <a:rPr lang="en-US" sz="2000" dirty="0" smtClean="0"/>
              <a:t>Scalable deployment for large concurrent user bases</a:t>
            </a:r>
          </a:p>
          <a:p>
            <a:r>
              <a:rPr lang="en-US" sz="2000" dirty="0" smtClean="0"/>
              <a:t>Mobile application integration for Android and </a:t>
            </a:r>
            <a:r>
              <a:rPr lang="en-US" sz="2000" dirty="0" err="1" smtClean="0"/>
              <a:t>iOS</a:t>
            </a:r>
            <a:endParaRPr lang="en-US" sz="2000" dirty="0" smtClean="0"/>
          </a:p>
          <a:p>
            <a:r>
              <a:rPr lang="en-US" sz="2000" dirty="0" smtClean="0"/>
              <a:t>Advanced real-time collaboration and communication features</a:t>
            </a:r>
          </a:p>
          <a:p>
            <a:r>
              <a:rPr lang="en-US" sz="2000" dirty="0" smtClean="0"/>
              <a:t>Performance optimization using advanced caching and CDN strategies</a:t>
            </a:r>
          </a:p>
          <a:p>
            <a:pPr>
              <a:buNone/>
            </a:pPr>
            <a:endParaRPr lang="en-US" dirty="0" smtClean="0"/>
          </a:p>
        </p:txBody>
      </p:sp>
    </p:spTree>
    <p:extLst>
      <p:ext uri="{BB962C8B-B14F-4D97-AF65-F5344CB8AC3E}">
        <p14:creationId xmlns:p14="http://schemas.microsoft.com/office/powerpoint/2010/main" xmlns="" val="7727386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D029A2-7652-4B2E-86D9-EC76EE7868B1}"/>
              </a:ext>
            </a:extLst>
          </p:cNvPr>
          <p:cNvSpPr>
            <a:spLocks noGrp="1"/>
          </p:cNvSpPr>
          <p:nvPr>
            <p:ph type="title"/>
          </p:nvPr>
        </p:nvSpPr>
        <p:spPr>
          <a:xfrm>
            <a:off x="3890682" y="62754"/>
            <a:ext cx="7463118" cy="594472"/>
          </a:xfrm>
        </p:spPr>
        <p:txBody>
          <a:bodyPr>
            <a:normAutofit fontScale="90000"/>
          </a:bodyPr>
          <a:lstStyle/>
          <a:p>
            <a:r>
              <a:rPr lang="en-US" sz="4000" u="sng" dirty="0">
                <a:latin typeface="Times New Roman" panose="02020603050405020304" pitchFamily="18" charset="0"/>
                <a:cs typeface="Times New Roman" panose="02020603050405020304" pitchFamily="18" charset="0"/>
              </a:rPr>
              <a:t>REFERENCES</a:t>
            </a:r>
            <a:endParaRPr lang="en-IN" sz="4000"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9B76C0B9-78C2-4701-A607-29B6244C1C7F}"/>
              </a:ext>
            </a:extLst>
          </p:cNvPr>
          <p:cNvSpPr>
            <a:spLocks noGrp="1"/>
          </p:cNvSpPr>
          <p:nvPr>
            <p:ph idx="1"/>
          </p:nvPr>
        </p:nvSpPr>
        <p:spPr>
          <a:xfrm>
            <a:off x="166687" y="657226"/>
            <a:ext cx="11858625" cy="5792881"/>
          </a:xfrm>
        </p:spPr>
        <p:txBody>
          <a:bodyPr>
            <a:noAutofit/>
          </a:bodyPr>
          <a:lstStyle/>
          <a:p>
            <a:pPr marL="342900" marR="28575" lvl="0" indent="-342900" algn="just">
              <a:lnSpc>
                <a:spcPct val="147000"/>
              </a:lnSpc>
              <a:buFont typeface="Symbol" panose="05050102010706020507" pitchFamily="18" charset="2"/>
              <a:buChar char=""/>
            </a:pPr>
            <a:r>
              <a:rPr lang="en-US" sz="1200" dirty="0" smtClean="0"/>
              <a:t>[1] </a:t>
            </a:r>
            <a:r>
              <a:rPr lang="en-US" sz="1200" dirty="0" err="1" smtClean="0"/>
              <a:t>Facebook</a:t>
            </a:r>
            <a:r>
              <a:rPr lang="en-US" sz="1200" dirty="0" smtClean="0"/>
              <a:t> Open Source. (2024). Jest: Delightful JavaScript Testing Framework. https://jestjs.io/ </a:t>
            </a:r>
          </a:p>
          <a:p>
            <a:pPr marL="342900" marR="28575" lvl="0" indent="-342900" algn="just">
              <a:lnSpc>
                <a:spcPct val="147000"/>
              </a:lnSpc>
              <a:buFont typeface="Symbol" panose="05050102010706020507" pitchFamily="18" charset="2"/>
              <a:buChar char=""/>
            </a:pPr>
            <a:r>
              <a:rPr lang="en-US" sz="1200" dirty="0" smtClean="0"/>
              <a:t>2] </a:t>
            </a:r>
            <a:r>
              <a:rPr lang="en-US" sz="1200" dirty="0" err="1" smtClean="0"/>
              <a:t>GoogleDevelopers</a:t>
            </a:r>
            <a:r>
              <a:rPr lang="en-US" sz="1200" dirty="0" smtClean="0"/>
              <a:t>. (2024). Firebase Documentation: Authentication, Cloud Fire store </a:t>
            </a:r>
            <a:r>
              <a:rPr lang="en-US" sz="1200" dirty="0" err="1" smtClean="0"/>
              <a:t>NoSQL</a:t>
            </a:r>
            <a:r>
              <a:rPr lang="en-US" sz="1200" dirty="0" smtClean="0"/>
              <a:t> Models, and Cloud Storage. https://firebase.google.com/ docs </a:t>
            </a:r>
          </a:p>
          <a:p>
            <a:pPr marL="342900" marR="28575" lvl="0" indent="-342900" algn="just">
              <a:lnSpc>
                <a:spcPct val="147000"/>
              </a:lnSpc>
              <a:buFont typeface="Symbol" panose="05050102010706020507" pitchFamily="18" charset="2"/>
              <a:buChar char=""/>
            </a:pPr>
            <a:r>
              <a:rPr lang="en-US" sz="1200" dirty="0" smtClean="0"/>
              <a:t>[3] Microsoft Corporation. (2024). The </a:t>
            </a:r>
            <a:r>
              <a:rPr lang="en-US" sz="1200" dirty="0" err="1" smtClean="0"/>
              <a:t>TypeScript</a:t>
            </a:r>
            <a:r>
              <a:rPr lang="en-US" sz="1200" dirty="0" smtClean="0"/>
              <a:t> Handbook: Interfaces, Types, and Compilation. https://www.typescriptlang.org/docs </a:t>
            </a:r>
          </a:p>
          <a:p>
            <a:pPr marL="342900" marR="28575" lvl="0" indent="-342900" algn="just">
              <a:lnSpc>
                <a:spcPct val="147000"/>
              </a:lnSpc>
              <a:buFont typeface="Symbol" panose="05050102010706020507" pitchFamily="18" charset="2"/>
              <a:buChar char=""/>
            </a:pPr>
            <a:r>
              <a:rPr lang="en-US" sz="1200" dirty="0" smtClean="0"/>
              <a:t>[4] Mozilla Developer Network (MDN). (2024). Web Technology Reference: HTML5 Semantics, CSS3 Grid/</a:t>
            </a:r>
            <a:r>
              <a:rPr lang="en-US" sz="1200" dirty="0" err="1" smtClean="0"/>
              <a:t>Flexbox</a:t>
            </a:r>
            <a:r>
              <a:rPr lang="en-US" sz="1200" dirty="0" smtClean="0"/>
              <a:t>, and JavaScript ES6+. https://developer. mozilla.org/en-US/ </a:t>
            </a:r>
          </a:p>
          <a:p>
            <a:pPr marL="342900" marR="28575" lvl="0" indent="-342900" algn="just">
              <a:lnSpc>
                <a:spcPct val="147000"/>
              </a:lnSpc>
              <a:buFont typeface="Symbol" panose="05050102010706020507" pitchFamily="18" charset="2"/>
              <a:buChar char=""/>
            </a:pPr>
            <a:r>
              <a:rPr lang="en-US" sz="1200" dirty="0" smtClean="0"/>
              <a:t>[5] </a:t>
            </a:r>
            <a:r>
              <a:rPr lang="en-US" sz="1200" dirty="0" err="1" smtClean="0"/>
              <a:t>OpenJS</a:t>
            </a:r>
            <a:r>
              <a:rPr lang="en-US" sz="1200" dirty="0" smtClean="0"/>
              <a:t> Foundation. (2024). </a:t>
            </a:r>
            <a:r>
              <a:rPr lang="en-US" sz="1200" dirty="0" err="1" smtClean="0"/>
              <a:t>jQuery</a:t>
            </a:r>
            <a:r>
              <a:rPr lang="en-US" sz="1200" dirty="0" smtClean="0"/>
              <a:t> API Documentation: DOM Traversal and Manipulation. https://api.jquery.com </a:t>
            </a:r>
          </a:p>
          <a:p>
            <a:pPr marL="342900" marR="28575" lvl="0" indent="-342900" algn="just">
              <a:lnSpc>
                <a:spcPct val="147000"/>
              </a:lnSpc>
              <a:buFont typeface="Symbol" panose="05050102010706020507" pitchFamily="18" charset="2"/>
              <a:buChar char=""/>
            </a:pPr>
            <a:r>
              <a:rPr lang="en-US" sz="1200" dirty="0" smtClean="0"/>
              <a:t>[6] PHP Group. (2024). PHP Manual: Using the built-in web server for local routing. https://www.php.net/manual/en/features.commandline. webserver.php </a:t>
            </a:r>
          </a:p>
          <a:p>
            <a:pPr marL="342900" marR="28575" lvl="0" indent="-342900" algn="just">
              <a:lnSpc>
                <a:spcPct val="147000"/>
              </a:lnSpc>
              <a:buFont typeface="Symbol" panose="05050102010706020507" pitchFamily="18" charset="2"/>
              <a:buChar char=""/>
            </a:pPr>
            <a:r>
              <a:rPr lang="en-US" sz="1200" dirty="0" smtClean="0"/>
              <a:t>[7] React Core Team. (2024). React Official Documentation and Hooks API Refer </a:t>
            </a:r>
            <a:r>
              <a:rPr lang="en-US" sz="1200" dirty="0" err="1" smtClean="0"/>
              <a:t>ence</a:t>
            </a:r>
            <a:r>
              <a:rPr lang="en-US" sz="1200" dirty="0" smtClean="0"/>
              <a:t>. Meta Open Source. https://react.dev </a:t>
            </a:r>
          </a:p>
          <a:p>
            <a:pPr marL="342900" marR="28575" lvl="0" indent="-342900" algn="just">
              <a:lnSpc>
                <a:spcPct val="147000"/>
              </a:lnSpc>
              <a:buFont typeface="Symbol" panose="05050102010706020507" pitchFamily="18" charset="2"/>
              <a:buChar char=""/>
            </a:pPr>
            <a:r>
              <a:rPr lang="en-US" sz="1200" dirty="0" smtClean="0"/>
              <a:t>[8] </a:t>
            </a:r>
            <a:r>
              <a:rPr lang="en-US" sz="1200" dirty="0" err="1" smtClean="0"/>
              <a:t>Shadcn</a:t>
            </a:r>
            <a:r>
              <a:rPr lang="en-US" sz="1200" dirty="0" smtClean="0"/>
              <a:t>. (2024). </a:t>
            </a:r>
            <a:r>
              <a:rPr lang="en-US" sz="1200" dirty="0" err="1" smtClean="0"/>
              <a:t>Shadcn</a:t>
            </a:r>
            <a:r>
              <a:rPr lang="en-US" sz="1200" dirty="0" smtClean="0"/>
              <a:t> UI: Accessible, Reusable Components built with Radix UI. https://ui.shadcn.com/ </a:t>
            </a:r>
          </a:p>
          <a:p>
            <a:pPr marL="342900" marR="28575" lvl="0" indent="-342900" algn="just">
              <a:lnSpc>
                <a:spcPct val="147000"/>
              </a:lnSpc>
              <a:buFont typeface="Symbol" panose="05050102010706020507" pitchFamily="18" charset="2"/>
              <a:buChar char=""/>
            </a:pPr>
            <a:r>
              <a:rPr lang="en-US" sz="1200" dirty="0" smtClean="0"/>
              <a:t>[9] Tailwind Labs. (2024). Tailwind CSS v3 Core Concepts and Utility API. https: //tailwindcss.com/docs </a:t>
            </a:r>
          </a:p>
          <a:p>
            <a:pPr marL="342900" marR="28575" lvl="0" indent="-342900" algn="just">
              <a:lnSpc>
                <a:spcPct val="147000"/>
              </a:lnSpc>
              <a:buFont typeface="Symbol" panose="05050102010706020507" pitchFamily="18" charset="2"/>
              <a:buChar char=""/>
            </a:pPr>
            <a:r>
              <a:rPr lang="en-US" sz="1200" dirty="0" smtClean="0"/>
              <a:t>[10] You, E.(2024). </a:t>
            </a:r>
            <a:r>
              <a:rPr lang="en-US" sz="1200" dirty="0" err="1" smtClean="0"/>
              <a:t>Vite</a:t>
            </a:r>
            <a:r>
              <a:rPr lang="en-US" sz="1200" dirty="0" smtClean="0"/>
              <a:t>: Next Generation Frontend Tooling and </a:t>
            </a:r>
            <a:r>
              <a:rPr lang="en-US" sz="1200" dirty="0" err="1" smtClean="0"/>
              <a:t>ESMServing</a:t>
            </a:r>
            <a:r>
              <a:rPr lang="en-US" sz="1200" dirty="0" smtClean="0"/>
              <a:t>. https: //vitejs.dev</a:t>
            </a:r>
            <a:endParaRPr lang="en-IN" sz="12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xmlns="" val="10779768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1903A53-11FE-4CC9-89CB-7A5C84F475B0}"/>
              </a:ext>
            </a:extLst>
          </p:cNvPr>
          <p:cNvSpPr>
            <a:spLocks noGrp="1"/>
          </p:cNvSpPr>
          <p:nvPr>
            <p:ph idx="1"/>
          </p:nvPr>
        </p:nvSpPr>
        <p:spPr>
          <a:xfrm>
            <a:off x="161365" y="2321859"/>
            <a:ext cx="11860306" cy="842682"/>
          </a:xfrm>
        </p:spPr>
        <p:txBody>
          <a:bodyPr>
            <a:noAutofit/>
          </a:bodyPr>
          <a:lstStyle/>
          <a:p>
            <a:pPr marL="0" indent="0" algn="ctr">
              <a:buNone/>
            </a:pPr>
            <a:r>
              <a:rPr lang="en-IN" sz="6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xmlns="" val="123162922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7074</TotalTime>
  <Words>1120</Words>
  <Application>Microsoft Office PowerPoint</Application>
  <PresentationFormat>Custom</PresentationFormat>
  <Paragraphs>163</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QR Notifier System, QR-Alimy Website, and Real-Time Chat Application </vt:lpstr>
      <vt:lpstr>INTRODUCTION</vt:lpstr>
      <vt:lpstr>Problem Statement  </vt:lpstr>
      <vt:lpstr>Technology Stack</vt:lpstr>
      <vt:lpstr>Internship Work</vt:lpstr>
      <vt:lpstr>The QR Communication Workflow Design</vt:lpstr>
      <vt:lpstr>Internship Work</vt:lpstr>
      <vt:lpstr>Internship Work</vt:lpstr>
      <vt:lpstr>Internship Work</vt:lpstr>
      <vt:lpstr>Challenges Faced and Solutions</vt:lpstr>
      <vt:lpstr>Conclusion</vt:lpstr>
      <vt:lpstr>Future Scope </vt:lpstr>
      <vt:lpstr>REFERENCES</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CHARACTERIZATION OF LEAF RUST RESPONSIVE mi PEP IN WHEAT AND CONSTRUCTING OF THEIR RECOMBINANTS</dc:title>
  <dc:creator>Lenovo</dc:creator>
  <cp:lastModifiedBy>DeLL</cp:lastModifiedBy>
  <cp:revision>100</cp:revision>
  <dcterms:created xsi:type="dcterms:W3CDTF">2023-09-26T13:29:22Z</dcterms:created>
  <dcterms:modified xsi:type="dcterms:W3CDTF">2026-05-08T04:53:29Z</dcterms:modified>
</cp:coreProperties>
</file>